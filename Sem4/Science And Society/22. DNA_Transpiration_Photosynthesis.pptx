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456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840480" cy="3840480"/>
          </a:xfrm>
          <a:prstGeom prst="ellipse">
            <a:avLst/>
          </a:prstGeom>
          <a:solidFill>
            <a:srgbClr val="1E5631">
              <a:alpha val="28000"/>
            </a:srgbClr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2926080"/>
            <a:ext cx="2560320" cy="256032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474720"/>
            <a:ext cx="2194560" cy="2194560"/>
          </a:xfrm>
          <a:prstGeom prst="ellipse">
            <a:avLst/>
          </a:prstGeom>
          <a:solidFill>
            <a:srgbClr val="2D9948">
              <a:alpha val="22000"/>
            </a:srgbClr>
          </a:solidFill>
          <a:ln w="12700">
            <a:solidFill>
              <a:srgbClr val="2D99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43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DNA Spooling, Transpiration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Photosynthesis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Molecules to Plant Life Processes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05840"/>
            <a:ext cx="1554480" cy="15544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28BAE2-1456-34A7-0E07-C16EDC464E8A}"/>
              </a:ext>
            </a:extLst>
          </p:cNvPr>
          <p:cNvSpPr txBox="1"/>
          <p:nvPr/>
        </p:nvSpPr>
        <p:spPr>
          <a:xfrm>
            <a:off x="5638070" y="3330416"/>
            <a:ext cx="15856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dirty="0">
                <a:solidFill>
                  <a:schemeClr val="bg1"/>
                </a:solidFill>
                <a:latin typeface="Trebuchet MS" panose="020B0603020202020204" pitchFamily="34" charset="0"/>
              </a:rPr>
              <a:t>Prepared by</a:t>
            </a:r>
          </a:p>
          <a:p>
            <a:pPr algn="r"/>
            <a:r>
              <a:rPr lang="en-IN" sz="1200" dirty="0">
                <a:solidFill>
                  <a:schemeClr val="bg1"/>
                </a:solidFill>
                <a:latin typeface="Trebuchet MS" panose="020B0603020202020204" pitchFamily="34" charset="0"/>
              </a:rPr>
              <a:t>Natya Vidhan Biswas</a:t>
            </a:r>
          </a:p>
          <a:p>
            <a:pPr algn="r"/>
            <a:r>
              <a:rPr lang="en-IN" sz="1200" dirty="0">
                <a:solidFill>
                  <a:schemeClr val="bg1"/>
                </a:solidFill>
                <a:latin typeface="Trebuchet MS" panose="020B0603020202020204" pitchFamily="34" charset="0"/>
              </a:rPr>
              <a:t>Victor Moses Nanda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B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2D9948"/>
          </a:solidFill>
          <a:ln w="12700">
            <a:solidFill>
              <a:srgbClr val="2D99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fundamental biological concepts explored in this presentation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3246120"/>
          </a:xfrm>
          <a:prstGeom prst="rect">
            <a:avLst/>
          </a:prstGeom>
          <a:solidFill>
            <a:srgbClr val="152B22"/>
          </a:solidFill>
          <a:ln w="25400">
            <a:solidFill>
              <a:srgbClr val="00796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2651760" cy="5029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819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" y="208483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1: DNA Spooling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2542032"/>
            <a:ext cx="2432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DNA?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experiment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lysis &amp; precipitation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behind the process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1508760"/>
            <a:ext cx="2651760" cy="3246120"/>
          </a:xfrm>
          <a:prstGeom prst="rect">
            <a:avLst/>
          </a:prstGeom>
          <a:solidFill>
            <a:srgbClr val="152B22"/>
          </a:solidFill>
          <a:ln w="254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508760"/>
            <a:ext cx="26517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58191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55848" y="208483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2: Transpiration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55848" y="2542032"/>
            <a:ext cx="2432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loss from leaves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Xylem transport pathway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factors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evidence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72200" y="1508760"/>
            <a:ext cx="2651760" cy="3246120"/>
          </a:xfrm>
          <a:prstGeom prst="rect">
            <a:avLst/>
          </a:prstGeom>
          <a:solidFill>
            <a:srgbClr val="152B22"/>
          </a:solidFill>
          <a:ln w="25400">
            <a:solidFill>
              <a:srgbClr val="BF360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1508760"/>
            <a:ext cx="2651760" cy="5029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58191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81928" y="2084832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3: Photosynthesis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81928" y="2542032"/>
            <a:ext cx="2432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synthesis in plants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dark reactions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Chloroplast activity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Starch test experiment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DNA?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DNA SPOOLING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2070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DNA  </a:t>
            </a:r>
            <a:r>
              <a:rPr lang="en-US" sz="1400" i="1" dirty="0">
                <a:solidFill>
                  <a:srgbClr val="4A67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Deoxyribonucleic Acid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347472" y="1828800"/>
            <a:ext cx="4846320" cy="658368"/>
          </a:xfrm>
          <a:prstGeom prst="rect">
            <a:avLst/>
          </a:prstGeom>
          <a:solidFill>
            <a:srgbClr val="F0FFF8"/>
          </a:solidFill>
          <a:ln w="12700">
            <a:solidFill>
              <a:srgbClr val="D0EE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1828800"/>
            <a:ext cx="109728" cy="6583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865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Genetic Blueprint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0352" y="2121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complete instructions for building and running every living organism.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7472" y="2578608"/>
            <a:ext cx="4846320" cy="658368"/>
          </a:xfrm>
          <a:prstGeom prst="rect">
            <a:avLst/>
          </a:prstGeom>
          <a:solidFill>
            <a:srgbClr val="F0FFF8"/>
          </a:solidFill>
          <a:ln w="12700">
            <a:solidFill>
              <a:srgbClr val="D0EE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" y="2578608"/>
            <a:ext cx="109728" cy="6583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2615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0352" y="28712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the nucleus of eukaryotic cells, tightly wound around histone proteins.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47472" y="3328416"/>
            <a:ext cx="4846320" cy="658368"/>
          </a:xfrm>
          <a:prstGeom prst="rect">
            <a:avLst/>
          </a:prstGeom>
          <a:solidFill>
            <a:srgbClr val="F0FFF8"/>
          </a:solidFill>
          <a:ln w="12700">
            <a:solidFill>
              <a:srgbClr val="D0EE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7472" y="3328416"/>
            <a:ext cx="109728" cy="6583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 Helix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0352" y="36210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strands twisted together — discovered by Watson &amp; Crick in 1953.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47472" y="4078224"/>
            <a:ext cx="4846320" cy="658368"/>
          </a:xfrm>
          <a:prstGeom prst="rect">
            <a:avLst/>
          </a:prstGeom>
          <a:solidFill>
            <a:srgbClr val="F0FFF8"/>
          </a:solidFill>
          <a:ln w="12700">
            <a:solidFill>
              <a:srgbClr val="D0EE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7472" y="4078224"/>
            <a:ext cx="109728" cy="6583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0352" y="4114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Pairs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0352" y="4370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four nucleotide bases: Adenine (A), Thymine (T), Guanine (G), Cytosine (C).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852160" y="1005840"/>
            <a:ext cx="384048" cy="38404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95160" y="1005840"/>
            <a:ext cx="384048" cy="384048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36208" y="1197864"/>
            <a:ext cx="1143000" cy="0"/>
          </a:xfrm>
          <a:prstGeom prst="line">
            <a:avLst/>
          </a:prstGeom>
          <a:noFill/>
          <a:ln w="15240">
            <a:solidFill>
              <a:srgbClr val="BBBBB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80760" y="158191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766560" y="1581912"/>
            <a:ext cx="384048" cy="38404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64808" y="1773936"/>
            <a:ext cx="685800" cy="0"/>
          </a:xfrm>
          <a:prstGeom prst="line">
            <a:avLst/>
          </a:prstGeom>
          <a:noFill/>
          <a:ln w="15240">
            <a:solidFill>
              <a:srgbClr val="BBBBB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852160" y="2157984"/>
            <a:ext cx="384048" cy="384048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95160" y="2157984"/>
            <a:ext cx="384048" cy="384048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36208" y="2350008"/>
            <a:ext cx="1143000" cy="0"/>
          </a:xfrm>
          <a:prstGeom prst="line">
            <a:avLst/>
          </a:prstGeom>
          <a:noFill/>
          <a:ln w="15240">
            <a:solidFill>
              <a:srgbClr val="BBBBB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080760" y="2734056"/>
            <a:ext cx="384048" cy="38404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766560" y="273405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64808" y="2926080"/>
            <a:ext cx="685800" cy="0"/>
          </a:xfrm>
          <a:prstGeom prst="line">
            <a:avLst/>
          </a:prstGeom>
          <a:noFill/>
          <a:ln w="15240">
            <a:solidFill>
              <a:srgbClr val="BBBBB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852160" y="3310128"/>
            <a:ext cx="384048" cy="384048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95160" y="3310128"/>
            <a:ext cx="384048" cy="38404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36208" y="3502152"/>
            <a:ext cx="1143000" cy="0"/>
          </a:xfrm>
          <a:prstGeom prst="line">
            <a:avLst/>
          </a:prstGeom>
          <a:noFill/>
          <a:ln w="15240">
            <a:solidFill>
              <a:srgbClr val="BBBBB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80760" y="3886200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766560" y="388620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64808" y="4078224"/>
            <a:ext cx="685800" cy="0"/>
          </a:xfrm>
          <a:prstGeom prst="line">
            <a:avLst/>
          </a:prstGeom>
          <a:noFill/>
          <a:ln w="15240">
            <a:solidFill>
              <a:srgbClr val="BBBBB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852160" y="4462272"/>
            <a:ext cx="384048" cy="38404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995160" y="4462272"/>
            <a:ext cx="384048" cy="384048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236208" y="4654296"/>
            <a:ext cx="1143000" cy="0"/>
          </a:xfrm>
          <a:prstGeom prst="line">
            <a:avLst/>
          </a:prstGeom>
          <a:noFill/>
          <a:ln w="15240">
            <a:solidFill>
              <a:srgbClr val="BBBBB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66928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Helix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DNA Spooling?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DNA SPOOLING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1234440"/>
            <a:ext cx="8503920" cy="9601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2984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DNA Spooling is the process of extracting and making DNA physically visible as fine, white, thread-like strands.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47472" y="2331720"/>
            <a:ext cx="26060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" y="2331720"/>
            <a:ext cx="2606040" cy="4572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8346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Visible DNA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227832"/>
            <a:ext cx="2404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right conditions, DNA precipitates and becomes visible to the naked eye — a rare and striking demonstration.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08960" y="2331720"/>
            <a:ext cx="26060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08960" y="2331720"/>
            <a:ext cx="2606040" cy="457200"/>
          </a:xfrm>
          <a:prstGeom prst="rect">
            <a:avLst/>
          </a:prstGeom>
          <a:solidFill>
            <a:srgbClr val="2D9948"/>
          </a:solidFill>
          <a:ln w="12700">
            <a:solidFill>
              <a:srgbClr val="2D99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18688" y="28346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Fruit Source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18688" y="3227832"/>
            <a:ext cx="2404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Bananas and strawberries are ideal sources — they have soft cell walls and are polyploid, containing large amounts of DNA.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870448" y="2331720"/>
            <a:ext cx="26060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70448" y="2331720"/>
            <a:ext cx="260604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0176" y="28346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Technique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980176" y="3227832"/>
            <a:ext cx="2404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basic chemistry (lysis, salting, precipitation) to demonstrate advanced biological concepts accessibly.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Aim of the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DNA SPOOLING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1298448"/>
            <a:ext cx="8503920" cy="1097280"/>
          </a:xfrm>
          <a:prstGeom prst="rect">
            <a:avLst/>
          </a:prstGeom>
          <a:solidFill>
            <a:srgbClr val="F0FFF8"/>
          </a:solidFill>
          <a:ln w="12700">
            <a:solidFill>
              <a:srgbClr val="D0EE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527048"/>
            <a:ext cx="640080" cy="64008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527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34440" y="138988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 &amp; Observe DNA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177393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extract DNA from a plant source (banana/strawberry) and observe it as visible white thread-like strands using the spooling technique.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" y="2532888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E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761488"/>
            <a:ext cx="640080" cy="64008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761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34440" y="26243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 Cell Structure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34440" y="300837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understand how cell membranes, nuclei, and organelles are structured and how they can be disrupted using detergents and salt solutions.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47472" y="3767328"/>
            <a:ext cx="8503920" cy="1097280"/>
          </a:xfrm>
          <a:prstGeom prst="rect">
            <a:avLst/>
          </a:prstGeom>
          <a:solidFill>
            <a:srgbClr val="F0FFF8"/>
          </a:solidFill>
          <a:ln w="12700">
            <a:solidFill>
              <a:srgbClr val="D0EE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995928"/>
            <a:ext cx="640080" cy="64008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995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234440" y="385876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Lab Techniques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34440" y="424281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practise fundamental laboratory skills: filtration, careful alcohol layering, precipitation reactions, and careful observation of biological material.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Materials Required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DNA SPOOLING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1298448"/>
            <a:ext cx="2743200" cy="1600200"/>
          </a:xfrm>
          <a:prstGeom prst="rect">
            <a:avLst/>
          </a:prstGeom>
          <a:solidFill>
            <a:srgbClr val="F5FFFA"/>
          </a:solidFill>
          <a:ln w="1524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🍌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87552" y="14081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Banana / Strawberry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1031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biological source of DNA — soft fruits work best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27832" y="1298448"/>
            <a:ext cx="2743200" cy="1600200"/>
          </a:xfrm>
          <a:prstGeom prst="rect">
            <a:avLst/>
          </a:prstGeom>
          <a:solidFill>
            <a:srgbClr val="F5FFFA"/>
          </a:solidFill>
          <a:ln w="1524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375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🧼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867912" y="14081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Dish Soap (SDS)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37560" y="21031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Detergent to break cell and nuclear membranes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08192" y="1298448"/>
            <a:ext cx="2743200" cy="1600200"/>
          </a:xfrm>
          <a:prstGeom prst="rect">
            <a:avLst/>
          </a:prstGeom>
          <a:solidFill>
            <a:srgbClr val="F5FFFA"/>
          </a:solidFill>
          <a:ln w="1524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179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🧂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748272" y="14081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Salt (NaCl)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17920" y="21031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 and clumps DNA strands together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47472" y="3081528"/>
            <a:ext cx="2743200" cy="1600200"/>
          </a:xfrm>
          <a:prstGeom prst="rect">
            <a:avLst/>
          </a:prstGeom>
          <a:solidFill>
            <a:srgbClr val="F5FFFA"/>
          </a:solidFill>
          <a:ln w="1524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572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98755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Distilled Water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38862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 for the extraction buffer solution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27832" y="3081528"/>
            <a:ext cx="2743200" cy="1600200"/>
          </a:xfrm>
          <a:prstGeom prst="rect">
            <a:avLst/>
          </a:prstGeom>
          <a:solidFill>
            <a:srgbClr val="F5FFFA"/>
          </a:solidFill>
          <a:ln w="1524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375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386791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/ Cheesecloth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337560" y="38862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cell debris from the extract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108192" y="3081528"/>
            <a:ext cx="2743200" cy="1600200"/>
          </a:xfrm>
          <a:prstGeom prst="rect">
            <a:avLst/>
          </a:prstGeom>
          <a:solidFill>
            <a:srgbClr val="F5FFFA"/>
          </a:solidFill>
          <a:ln w="15240">
            <a:solidFill>
              <a:srgbClr val="C8E6C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2179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674827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 Ethanol / Isopropanol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17920" y="38862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Precipitates DNA out of solution as white threads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Procedure (Step by Step)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DNA SPOOLING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0" y="2011680"/>
            <a:ext cx="228600" cy="16459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" y="1298448"/>
            <a:ext cx="1508760" cy="3474720"/>
          </a:xfrm>
          <a:prstGeom prst="rect">
            <a:avLst/>
          </a:prstGeom>
          <a:solidFill>
            <a:srgbClr val="F0FFF8"/>
          </a:solidFill>
          <a:ln w="1905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73252" y="1234440"/>
            <a:ext cx="457200" cy="45720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8912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Mash the Fruit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8912" y="2286000"/>
            <a:ext cx="1325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 banana or strawberry in a zip-lock bag until no large pieces remain, breaking open cells.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538728" y="2011680"/>
            <a:ext cx="228600" cy="16459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57400" y="1298448"/>
            <a:ext cx="1508760" cy="3474720"/>
          </a:xfrm>
          <a:prstGeom prst="rect">
            <a:avLst/>
          </a:prstGeom>
          <a:solidFill>
            <a:srgbClr val="F0FFF8"/>
          </a:solidFill>
          <a:ln w="1905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83180" y="1234440"/>
            <a:ext cx="457200" cy="45720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831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148840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Lysis Buffer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148840" y="2286000"/>
            <a:ext cx="1325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in dish soap + salt + water. Gently knead for 2 minutes. Soap disrupts lipid membranes.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248656" y="2011680"/>
            <a:ext cx="228600" cy="16459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767328" y="1298448"/>
            <a:ext cx="1508760" cy="3474720"/>
          </a:xfrm>
          <a:prstGeom prst="rect">
            <a:avLst/>
          </a:prstGeom>
          <a:solidFill>
            <a:srgbClr val="F0FFF8"/>
          </a:solidFill>
          <a:ln w="1905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293108" y="1234440"/>
            <a:ext cx="457200" cy="45720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93108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858768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858768" y="2286000"/>
            <a:ext cx="1325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mixture through cheesecloth or coffee filter into a clean tube to remove cell debris.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958584" y="2011680"/>
            <a:ext cx="228600" cy="16459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77256" y="1298448"/>
            <a:ext cx="1508760" cy="3474720"/>
          </a:xfrm>
          <a:prstGeom prst="rect">
            <a:avLst/>
          </a:prstGeom>
          <a:solidFill>
            <a:srgbClr val="F0FFF8"/>
          </a:solidFill>
          <a:ln w="1905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003036" y="1234440"/>
            <a:ext cx="457200" cy="45720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03036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568696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Cold Alcohol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568696" y="2286000"/>
            <a:ext cx="1325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 pour cold ethanol/isopropanol down the tube wall to create a distinct layer above.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187184" y="1298448"/>
            <a:ext cx="1508760" cy="3474720"/>
          </a:xfrm>
          <a:prstGeom prst="rect">
            <a:avLst/>
          </a:prstGeom>
          <a:solidFill>
            <a:srgbClr val="F0FFF8"/>
          </a:solidFill>
          <a:ln w="1905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712964" y="1234440"/>
            <a:ext cx="457200" cy="457200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12964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278624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Spool the DNA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278624" y="2286000"/>
            <a:ext cx="1325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precipitates at the interface as white threads. Use a glass rod to spool it up!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 Principle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DNA SPOOLING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1234440"/>
            <a:ext cx="4041648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96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1234440"/>
            <a:ext cx="4041648" cy="3840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28930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🧼  Soap Breaks Membranes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1709928"/>
            <a:ext cx="3822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Detergent (SDS) disrupts the phospholipid bilayer of cell membranes and nuclear membranes, releasing DNA into solution.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45152" y="1234440"/>
            <a:ext cx="4041648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95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45152" y="1234440"/>
            <a:ext cx="4041648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28930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🧂  Salt Stabilises DNA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1709928"/>
            <a:ext cx="3822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NaCl neutralises the negative charges on the phosphate backbone of DNA, preventing strands from repelling each other and causing clumping.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7472" y="3108960"/>
            <a:ext cx="4041648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994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" y="3108960"/>
            <a:ext cx="4041648" cy="384048"/>
          </a:xfrm>
          <a:prstGeom prst="rect">
            <a:avLst/>
          </a:prstGeom>
          <a:solidFill>
            <a:srgbClr val="2D9948"/>
          </a:solidFill>
          <a:ln w="12700">
            <a:solidFill>
              <a:srgbClr val="2D99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16382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🧊  Alcohol Precipitates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3584448"/>
            <a:ext cx="3822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ethanol/isopropanol is less polar than water. DNA (which needs water to stay dissolved) is forced out of solution, becoming visible.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45152" y="3108960"/>
            <a:ext cx="4041648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45152" y="3108960"/>
            <a:ext cx="4041648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316382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🌀  Visible White Threads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54880" y="3584448"/>
            <a:ext cx="3822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Precipitated DNA forms long white fibrous threads that can be spooled onto a glass rod — a rare visible demonstration of a molecule!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Transpiration?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TRANSPIRATION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1234440"/>
            <a:ext cx="850392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261872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Transpiration is the process by which water absorbed by plant roots travels upward through the xylem and evaporates as water vapour from the leaves through tiny pores called stomata.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" y="2258568"/>
            <a:ext cx="2743200" cy="257860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891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57200" y="2944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 Vapour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33756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97–99% of water absorbed by roots is released through transpiration as vapour.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27832" y="2258568"/>
            <a:ext cx="2743200" cy="257860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1927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🕳️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3337560" y="2944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Stomata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37560" y="333756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pores on leaf surfaces (mainly on the underside) through which water vapour escapes.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08192" y="2258568"/>
            <a:ext cx="2743200" cy="2578608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9963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⬆️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217920" y="2944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Upward Pull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333756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Transpiration creates a tension in the xylem that pulls water upward from roots to leaves.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of Transpiration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TRANSPIRATION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30552" y="2743200"/>
            <a:ext cx="347472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32304" y="2679192"/>
            <a:ext cx="91440" cy="1280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1371600"/>
            <a:ext cx="1828800" cy="3337560"/>
          </a:xfrm>
          <a:prstGeom prst="rect">
            <a:avLst/>
          </a:prstGeom>
          <a:solidFill>
            <a:srgbClr val="EFF6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" y="1371600"/>
            <a:ext cx="18288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🌱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38912" y="24871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Absorption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8912" y="28803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hair cells absorb water from soil through osmosis.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61104" y="2743200"/>
            <a:ext cx="347472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62856" y="2679192"/>
            <a:ext cx="91440" cy="1280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78024" y="1371600"/>
            <a:ext cx="1828800" cy="3337560"/>
          </a:xfrm>
          <a:prstGeom prst="rect">
            <a:avLst/>
          </a:prstGeom>
          <a:solidFill>
            <a:srgbClr val="EFF6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478024" y="1371600"/>
            <a:ext cx="18288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69464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11810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2569464" y="24871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Xylem Transport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569464" y="28803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moves upward through xylem vessels in the stem.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391656" y="2743200"/>
            <a:ext cx="347472" cy="0"/>
          </a:xfrm>
          <a:prstGeom prst="line">
            <a:avLst/>
          </a:prstGeom>
          <a:noFill/>
          <a:ln w="31750">
            <a:solidFill>
              <a:srgbClr val="1565C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93408" y="2679192"/>
            <a:ext cx="91440" cy="1280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08576" y="1371600"/>
            <a:ext cx="1828800" cy="3337560"/>
          </a:xfrm>
          <a:prstGeom prst="rect">
            <a:avLst/>
          </a:prstGeom>
          <a:solidFill>
            <a:srgbClr val="EFF6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08576" y="1371600"/>
            <a:ext cx="18288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0016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24865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🍃</a:t>
            </a:r>
            <a:endParaRPr lang="en-US" sz="3200" dirty="0"/>
          </a:p>
        </p:txBody>
      </p:sp>
      <p:sp>
        <p:nvSpPr>
          <p:cNvPr id="30" name="Text 27"/>
          <p:cNvSpPr/>
          <p:nvPr/>
        </p:nvSpPr>
        <p:spPr>
          <a:xfrm>
            <a:off x="4700016" y="24871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Leaf Evaporation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700016" y="28803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evaporates from mesophyll cells into air spaces.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739128" y="1371600"/>
            <a:ext cx="1828800" cy="3337560"/>
          </a:xfrm>
          <a:prstGeom prst="rect">
            <a:avLst/>
          </a:prstGeom>
          <a:solidFill>
            <a:srgbClr val="EFF6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739128" y="1371600"/>
            <a:ext cx="18288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30568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37920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💨</a:t>
            </a:r>
            <a:endParaRPr lang="en-US" sz="3200" dirty="0"/>
          </a:p>
        </p:txBody>
      </p:sp>
      <p:sp>
        <p:nvSpPr>
          <p:cNvPr id="36" name="Text 33"/>
          <p:cNvSpPr/>
          <p:nvPr/>
        </p:nvSpPr>
        <p:spPr>
          <a:xfrm>
            <a:off x="6830568" y="24871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Stomatal Release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30568" y="28803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vapour diffuses out through open stomata into the air.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47472" y="4773168"/>
            <a:ext cx="850392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" y="47823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This continuous upward pull is called the Transpiration Pull — the driving force for water movement in tall plants.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Importance of Transpiration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TRANSPIRATION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1280160"/>
            <a:ext cx="4087368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1280160"/>
            <a:ext cx="4087368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335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🚰  Water Transport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1755648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transpiration pull that draws water and dissolved minerals from roots up to every part of the plant.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90872" y="1280160"/>
            <a:ext cx="4087368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90872" y="1280160"/>
            <a:ext cx="4087368" cy="38404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1335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🌡️  Temperature Control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00600" y="1755648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Evaporation of water cools leaf surfaces, preventing overheating during intense photosynthesis on hot days.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7472" y="3154680"/>
            <a:ext cx="4087368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77B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" y="3154680"/>
            <a:ext cx="4087368" cy="38404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209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⛏️  Mineral Absorption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3630168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flow of water through xylem carries essential mineral ions (nitrogen, phosphorus, potassium) absorbed from soil.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90872" y="3154680"/>
            <a:ext cx="4087368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994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90872" y="3154680"/>
            <a:ext cx="4087368" cy="384048"/>
          </a:xfrm>
          <a:prstGeom prst="rect">
            <a:avLst/>
          </a:prstGeom>
          <a:solidFill>
            <a:srgbClr val="2D9948"/>
          </a:solidFill>
          <a:ln w="12700">
            <a:solidFill>
              <a:srgbClr val="2D994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3209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💪  Turgor Maintenance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00600" y="3630168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water content keeps cells turgid, maintaining plant structure and keeping leaves firm and upright.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Factors Affecting Transpiration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TRANSPIRATION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1234440"/>
            <a:ext cx="4087368" cy="1691640"/>
          </a:xfrm>
          <a:prstGeom prst="rect">
            <a:avLst/>
          </a:prstGeom>
          <a:solidFill>
            <a:srgbClr val="F8FDFF"/>
          </a:solidFill>
          <a:ln w="1524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99032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1463040"/>
            <a:ext cx="374904" cy="374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60704" y="1325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60704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↑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1984248"/>
            <a:ext cx="374904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" y="1984248"/>
            <a:ext cx="2999232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21671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temperatures increase the kinetic energy of water molecules, accelerating evaporation from leaf surfaces.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90872" y="1234440"/>
            <a:ext cx="4087368" cy="1691640"/>
          </a:xfrm>
          <a:prstGeom prst="rect">
            <a:avLst/>
          </a:prstGeom>
          <a:solidFill>
            <a:srgbClr val="F8FDFF"/>
          </a:solidFill>
          <a:ln w="15240">
            <a:solidFill>
              <a:srgbClr val="0288D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00600" y="1399032"/>
            <a:ext cx="502920" cy="50292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463040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04104" y="1325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Humidity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04104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Decreases ↓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00600" y="1984248"/>
            <a:ext cx="374904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00600" y="1984248"/>
            <a:ext cx="1124712" cy="10972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800600" y="21671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humidity reduces the concentration gradient between leaf air spaces and outside air, slowing water loss.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47472" y="3108960"/>
            <a:ext cx="4087368" cy="1691640"/>
          </a:xfrm>
          <a:prstGeom prst="rect">
            <a:avLst/>
          </a:prstGeom>
          <a:solidFill>
            <a:srgbClr val="F8FDFF"/>
          </a:solidFill>
          <a:ln w="15240">
            <a:solidFill>
              <a:srgbClr val="0277BD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3273552"/>
            <a:ext cx="502920" cy="50292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337560"/>
            <a:ext cx="374904" cy="3749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60704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7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 Speed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060704" y="3520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↑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57200" y="3858768"/>
            <a:ext cx="374904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7200" y="3858768"/>
            <a:ext cx="2624328" cy="10972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57200" y="404164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removes water vapour from around stomata, maintaining a steep diffusion gradient that drives faster transpiration.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690872" y="3108960"/>
            <a:ext cx="4087368" cy="1691640"/>
          </a:xfrm>
          <a:prstGeom prst="rect">
            <a:avLst/>
          </a:prstGeom>
          <a:solidFill>
            <a:srgbClr val="F8FDFF"/>
          </a:solidFill>
          <a:ln w="15240">
            <a:solidFill>
              <a:srgbClr val="2D994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800600" y="3273552"/>
            <a:ext cx="502920" cy="502920"/>
          </a:xfrm>
          <a:prstGeom prst="ellipse">
            <a:avLst/>
          </a:prstGeom>
          <a:solidFill>
            <a:srgbClr val="2D9948"/>
          </a:solidFill>
          <a:ln w="12700">
            <a:solidFill>
              <a:srgbClr val="2D9948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337560"/>
            <a:ext cx="374904" cy="37490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404104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 Intensity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5404104" y="3520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↑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800600" y="3858768"/>
            <a:ext cx="374904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800600" y="3858768"/>
            <a:ext cx="2436876" cy="109728"/>
          </a:xfrm>
          <a:prstGeom prst="rect">
            <a:avLst/>
          </a:prstGeom>
          <a:solidFill>
            <a:srgbClr val="2D9948"/>
          </a:solidFill>
          <a:ln w="12700">
            <a:solidFill>
              <a:srgbClr val="2D9948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800600" y="404164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causes stomata to open (guard cells become turgid), providing a larger passage for water vapour to escape.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Experiment: Plastic Bag Method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TRANSPIRATION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1353312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3350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potted plant, clear plastic bag, rubber band / tape, sunny windowsill.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7472" y="210312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20848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23225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plastic bag over a leafy branch or enclose the entire potted plant's leaves. Seal tightly.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7472" y="2852928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28346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30723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in sunlight for 30–60 minutes. Do not disturb the bag.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47472" y="3602736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7472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" y="35844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" y="382219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droplets condense on the inside of the bag. The bag may fog up or swell.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47472" y="4352544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7472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22960" y="43342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4572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droplets confirm that leaves release water vapour — direct evidence of transpiration.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126480" y="3931920"/>
            <a:ext cx="1645920" cy="914400"/>
          </a:xfrm>
          <a:prstGeom prst="rect">
            <a:avLst/>
          </a:prstGeom>
          <a:solidFill>
            <a:srgbClr val="8B4513"/>
          </a:solidFill>
          <a:ln w="19050">
            <a:solidFill>
              <a:srgbClr val="6B341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26480" y="3931920"/>
            <a:ext cx="1645920" cy="32004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85432" y="2011680"/>
            <a:ext cx="109728" cy="1920240"/>
          </a:xfrm>
          <a:prstGeom prst="rect">
            <a:avLst/>
          </a:prstGeom>
          <a:solidFill>
            <a:srgbClr val="2D9948"/>
          </a:solidFill>
          <a:ln w="12700">
            <a:solidFill>
              <a:srgbClr val="2D994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0" y="1645920"/>
            <a:ext cx="548640" cy="365760"/>
          </a:xfrm>
          <a:prstGeom prst="ellipse">
            <a:avLst/>
          </a:prstGeom>
          <a:solidFill>
            <a:srgbClr val="52B788"/>
          </a:solidFill>
          <a:ln w="6350">
            <a:solidFill>
              <a:srgbClr val="2D994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858000" y="1371600"/>
            <a:ext cx="548640" cy="365760"/>
          </a:xfrm>
          <a:prstGeom prst="ellipse">
            <a:avLst/>
          </a:prstGeom>
          <a:solidFill>
            <a:srgbClr val="52B788"/>
          </a:solidFill>
          <a:ln w="6350">
            <a:solidFill>
              <a:srgbClr val="2D994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315200" y="1737360"/>
            <a:ext cx="548640" cy="365760"/>
          </a:xfrm>
          <a:prstGeom prst="ellipse">
            <a:avLst/>
          </a:prstGeom>
          <a:solidFill>
            <a:srgbClr val="52B788"/>
          </a:solidFill>
          <a:ln w="6350">
            <a:solidFill>
              <a:srgbClr val="2D994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217920" y="2103120"/>
            <a:ext cx="548640" cy="365760"/>
          </a:xfrm>
          <a:prstGeom prst="ellipse">
            <a:avLst/>
          </a:prstGeom>
          <a:solidFill>
            <a:srgbClr val="52B788"/>
          </a:solidFill>
          <a:ln w="6350">
            <a:solidFill>
              <a:srgbClr val="2D994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766560" y="1920240"/>
            <a:ext cx="548640" cy="365760"/>
          </a:xfrm>
          <a:prstGeom prst="ellipse">
            <a:avLst/>
          </a:prstGeom>
          <a:solidFill>
            <a:srgbClr val="52B788"/>
          </a:solidFill>
          <a:ln w="6350">
            <a:solidFill>
              <a:srgbClr val="2D994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223760" y="2286000"/>
            <a:ext cx="548640" cy="365760"/>
          </a:xfrm>
          <a:prstGeom prst="ellipse">
            <a:avLst/>
          </a:prstGeom>
          <a:solidFill>
            <a:srgbClr val="52B788"/>
          </a:solidFill>
          <a:ln w="6350">
            <a:solidFill>
              <a:srgbClr val="2D994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989320" y="1188720"/>
            <a:ext cx="2240280" cy="2743200"/>
          </a:xfrm>
          <a:prstGeom prst="rect">
            <a:avLst/>
          </a:prstGeom>
          <a:solidFill>
            <a:srgbClr val="64B5F6">
              <a:alpha val="12000"/>
            </a:srgbClr>
          </a:solidFill>
          <a:ln w="25400">
            <a:solidFill>
              <a:srgbClr val="64B5F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144768" y="182880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92240" y="256032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949440" y="310896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498080" y="201168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772400" y="274320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76072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Water droplets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inside the bag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Photosynthesis?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PHOTOSYNTHESIS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1234440"/>
            <a:ext cx="8503920" cy="89611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261872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 is the process by which green plants use light energy from the sun to convert carbon dioxide (CO₂) and water (H₂O) into glucose (food) and oxygen.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" y="2286000"/>
            <a:ext cx="2743200" cy="2532888"/>
          </a:xfrm>
          <a:prstGeom prst="rect">
            <a:avLst/>
          </a:prstGeom>
          <a:solidFill>
            <a:srgbClr val="FFF8F5"/>
          </a:solidFill>
          <a:ln w="15240">
            <a:solidFill>
              <a:srgbClr val="FFCCB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8912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☀️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57200" y="29626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Source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364992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(light energy) is captured by the green pigment chlorophyll found in chloroplasts.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27832" y="2286000"/>
            <a:ext cx="2743200" cy="2532888"/>
          </a:xfrm>
          <a:prstGeom prst="rect">
            <a:avLst/>
          </a:prstGeom>
          <a:solidFill>
            <a:srgbClr val="FFF8F5"/>
          </a:solidFill>
          <a:ln w="15240">
            <a:solidFill>
              <a:srgbClr val="FFCCB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19272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🌬️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3337560" y="29626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Materials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37560" y="3364992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dioxide absorbed through stomata; water absorbed by roots and transported via xylem.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08192" y="2286000"/>
            <a:ext cx="2743200" cy="2532888"/>
          </a:xfrm>
          <a:prstGeom prst="rect">
            <a:avLst/>
          </a:prstGeom>
          <a:solidFill>
            <a:srgbClr val="FFF8F5"/>
          </a:solidFill>
          <a:ln w="15240">
            <a:solidFill>
              <a:srgbClr val="FFCCB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99632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🍬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217920" y="29626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3364992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(sugar) is stored as starch for energy; oxygen is released as a by-product we breathe.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Photosynthesis Equation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046720" cy="1325880"/>
          </a:xfrm>
          <a:prstGeom prst="rect">
            <a:avLst/>
          </a:prstGeom>
          <a:solidFill>
            <a:srgbClr val="1A0A00"/>
          </a:solidFill>
          <a:ln w="25400">
            <a:solidFill>
              <a:srgbClr val="BF36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6CO₂  +  6H₂O  +  Light Energy  →  C₆H₁₂O₆  +  6O₂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1536192" cy="1737360"/>
          </a:xfrm>
          <a:prstGeom prst="rect">
            <a:avLst/>
          </a:prstGeom>
          <a:solidFill>
            <a:srgbClr val="152B22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834640"/>
            <a:ext cx="1536192" cy="3474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5292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6CO₂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246120"/>
            <a:ext cx="14081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dioxide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air via stomata)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76272" y="2834640"/>
            <a:ext cx="1536192" cy="1737360"/>
          </a:xfrm>
          <a:prstGeom prst="rect">
            <a:avLst/>
          </a:prstGeom>
          <a:solidFill>
            <a:srgbClr val="152B22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76272" y="2834640"/>
            <a:ext cx="1536192" cy="34747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21992" y="285292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6H₂O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3246120"/>
            <a:ext cx="14081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soil via roots)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9624" y="2834640"/>
            <a:ext cx="1536192" cy="1737360"/>
          </a:xfrm>
          <a:prstGeom prst="rect">
            <a:avLst/>
          </a:prstGeom>
          <a:solidFill>
            <a:srgbClr val="152B22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9624" y="2834640"/>
            <a:ext cx="1536192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285292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13632" y="3246120"/>
            <a:ext cx="14081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(absorbed by chlorophyll)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22976" y="2834640"/>
            <a:ext cx="1536192" cy="1737360"/>
          </a:xfrm>
          <a:prstGeom prst="rect">
            <a:avLst/>
          </a:prstGeom>
          <a:solidFill>
            <a:srgbClr val="152B22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22976" y="2834640"/>
            <a:ext cx="1536192" cy="34747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8696" y="285292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C₆H₁₂O₆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86984" y="3246120"/>
            <a:ext cx="14081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(food for the plant)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96328" y="2834640"/>
            <a:ext cx="1536192" cy="1737360"/>
          </a:xfrm>
          <a:prstGeom prst="rect">
            <a:avLst/>
          </a:prstGeom>
          <a:solidFill>
            <a:srgbClr val="152B22"/>
          </a:solidFill>
          <a:ln w="19050">
            <a:solidFill>
              <a:srgbClr val="80CB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96328" y="2834640"/>
            <a:ext cx="1536192" cy="347472"/>
          </a:xfrm>
          <a:prstGeom prst="rect">
            <a:avLst/>
          </a:prstGeom>
          <a:solidFill>
            <a:srgbClr val="80CBC4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42048" y="285292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6O₂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0336" y="3246120"/>
            <a:ext cx="14081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released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(by-product we breathe)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457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in: Chloroplasts  •  Pigment: Chlorophyll  •  Location: Green plant cells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of Photosynthesis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PHOTOSYNTHESIS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1298448"/>
            <a:ext cx="4041648" cy="3566160"/>
          </a:xfrm>
          <a:prstGeom prst="rect">
            <a:avLst/>
          </a:prstGeom>
          <a:solidFill>
            <a:srgbClr val="FFF8F5"/>
          </a:solidFill>
          <a:ln w="19050">
            <a:solidFill>
              <a:srgbClr val="BF36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1298448"/>
            <a:ext cx="4041648" cy="4572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3350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☀️  Light Reactions (Thylakoid)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3794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 in the thylakoid membranes of chloroplasts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Chlorophyll absorbs sunlight and splits water molecules (photolysis)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is captured and stored as ATP and NADPH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is released as a by-product of water splitting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'Light-Dependent Reactions'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34840" y="2834640"/>
            <a:ext cx="274320" cy="20116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16552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F360C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407408" y="3127248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NADPH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800600" y="1298448"/>
            <a:ext cx="4041648" cy="3566160"/>
          </a:xfrm>
          <a:prstGeom prst="rect">
            <a:avLst/>
          </a:prstGeom>
          <a:solidFill>
            <a:srgbClr val="F0FFF8"/>
          </a:solidFill>
          <a:ln w="19050">
            <a:solidFill>
              <a:srgbClr val="2D994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1298448"/>
            <a:ext cx="4041648" cy="457200"/>
          </a:xfrm>
          <a:prstGeom prst="rect">
            <a:avLst/>
          </a:prstGeom>
          <a:solidFill>
            <a:srgbClr val="2D9948"/>
          </a:solidFill>
          <a:ln w="12700">
            <a:solidFill>
              <a:srgbClr val="2D994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10328" y="13350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 Dark Reactions (Calvin Cycle)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10328" y="1828800"/>
            <a:ext cx="3794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 in the stroma of the chloroplast (no light needed)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ATP and NADPH from light reactions to fix CO₂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is combined with RuBP in a cycle of reactions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G3P (glyceraldehyde-3-phosphate) as intermediate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G3P is converted to glucose — the plant's food source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Importance of Photosynthesis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PHOTOSYNTHESIS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1261872"/>
            <a:ext cx="4087368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1261872"/>
            <a:ext cx="4087368" cy="38404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316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🍎  Food Production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1737360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 is the primary source of all organic food on Earth. Plants are the foundation of every food chain and web.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90872" y="1261872"/>
            <a:ext cx="4087368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90872" y="1261872"/>
            <a:ext cx="4087368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1316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🌬️  Oxygen Release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00600" y="1737360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oxygen in our atmosphere that virtually all aerobic life forms depend on for cellular respiration.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7472" y="3136392"/>
            <a:ext cx="4087368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994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" y="3136392"/>
            <a:ext cx="4087368" cy="384048"/>
          </a:xfrm>
          <a:prstGeom prst="rect">
            <a:avLst/>
          </a:prstGeom>
          <a:solidFill>
            <a:srgbClr val="2D9948"/>
          </a:solidFill>
          <a:ln w="12700">
            <a:solidFill>
              <a:srgbClr val="2D99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191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 Atmospheric Balance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3611880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CO₂ from the atmosphere, counteracting the greenhouse effect and helping regulate global climate.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90872" y="3136392"/>
            <a:ext cx="4087368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7F1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90872" y="3136392"/>
            <a:ext cx="4087368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3191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Energy Base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00600" y="3611880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solar energy into chemical energy stored in glucose — the ultimate energy source for nearly all ecosystems on Earth.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Factors Affecting Photosynthesis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PHOTOSYNTHESIS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1234440"/>
            <a:ext cx="4087368" cy="1691640"/>
          </a:xfrm>
          <a:prstGeom prst="rect">
            <a:avLst/>
          </a:prstGeom>
          <a:solidFill>
            <a:srgbClr val="FFFBF8"/>
          </a:solidFill>
          <a:ln w="15240">
            <a:solidFill>
              <a:srgbClr val="BF360C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99032"/>
            <a:ext cx="502920" cy="502920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1463040"/>
            <a:ext cx="374904" cy="374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60704" y="13258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 Intensity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1984248"/>
            <a:ext cx="374904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" y="1984248"/>
            <a:ext cx="3186684" cy="10972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2167128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light → more energy for light reactions → increased glucose production. Above saturation point, no further increase.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90872" y="1234440"/>
            <a:ext cx="4087368" cy="1691640"/>
          </a:xfrm>
          <a:prstGeom prst="rect">
            <a:avLst/>
          </a:prstGeom>
          <a:solidFill>
            <a:srgbClr val="FFFBF8"/>
          </a:solidFill>
          <a:ln w="15240">
            <a:solidFill>
              <a:srgbClr val="E53935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00600" y="1399032"/>
            <a:ext cx="502920" cy="5029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463040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04104" y="13258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9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CO₂ Concentration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1984248"/>
            <a:ext cx="374904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00600" y="1984248"/>
            <a:ext cx="2624328" cy="10972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00600" y="2167128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is the raw material fixed in the Calvin Cycle. Higher CO₂ increases photosynthesis up to a saturation point.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47472" y="3108960"/>
            <a:ext cx="4087368" cy="1691640"/>
          </a:xfrm>
          <a:prstGeom prst="rect">
            <a:avLst/>
          </a:prstGeom>
          <a:solidFill>
            <a:srgbClr val="FFFBF8"/>
          </a:solidFill>
          <a:ln w="15240">
            <a:solidFill>
              <a:srgbClr val="F57F1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273552"/>
            <a:ext cx="502920" cy="502920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337560"/>
            <a:ext cx="374904" cy="374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0704" y="32004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57200" y="3858768"/>
            <a:ext cx="374904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7200" y="3858768"/>
            <a:ext cx="2249424" cy="10972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57200" y="4041648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enzyme-driven reactions. Optimal around 25–35°C; too high denatures enzymes; too low slows reactions.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690872" y="3108960"/>
            <a:ext cx="4087368" cy="1691640"/>
          </a:xfrm>
          <a:prstGeom prst="rect">
            <a:avLst/>
          </a:prstGeom>
          <a:solidFill>
            <a:srgbClr val="FFFBF8"/>
          </a:solidFill>
          <a:ln w="15240">
            <a:solidFill>
              <a:srgbClr val="2D994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800600" y="3273552"/>
            <a:ext cx="502920" cy="502920"/>
          </a:xfrm>
          <a:prstGeom prst="ellipse">
            <a:avLst/>
          </a:prstGeom>
          <a:solidFill>
            <a:srgbClr val="2D9948"/>
          </a:solidFill>
          <a:ln w="12700">
            <a:solidFill>
              <a:srgbClr val="2D9948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337560"/>
            <a:ext cx="374904" cy="37490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04104" y="32004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 Availability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4800600" y="3858768"/>
            <a:ext cx="3749040" cy="10972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800600" y="3858768"/>
            <a:ext cx="1874520" cy="109728"/>
          </a:xfrm>
          <a:prstGeom prst="rect">
            <a:avLst/>
          </a:prstGeom>
          <a:solidFill>
            <a:srgbClr val="2D9948"/>
          </a:solidFill>
          <a:ln w="12700">
            <a:solidFill>
              <a:srgbClr val="2D9948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800600" y="4041648"/>
            <a:ext cx="3858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a reactant in photolysis. Water shortage causes stomata to close, reducing CO₂ entry and halting photosynthesis.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Experiment: Iodine Starch Test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20116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13816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PHOTOSYNTHESIS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321040" y="137160"/>
            <a:ext cx="658368" cy="658368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46888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1234440"/>
            <a:ext cx="850392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2618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Aim: To confirm that photosynthesis has occurred by detecting starch (the stored product of glucose) in a leaf using iodine solution.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" y="1920240"/>
            <a:ext cx="1993392" cy="2907792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" y="1920240"/>
            <a:ext cx="1993392" cy="41148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195681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1556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🍃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38912" y="29443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F3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Decolourize the Leaf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38912" y="3383280"/>
            <a:ext cx="18105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the leaf in water for 2 min (softens it), then boil in ethanol until the green colour is removed — this removes chlorophyll.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78024" y="1920240"/>
            <a:ext cx="1993392" cy="2907792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478024" y="1920240"/>
            <a:ext cx="1993392" cy="4114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69464" y="195681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461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2569464" y="29443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539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Wash &amp; Spread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569464" y="3383280"/>
            <a:ext cx="18105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Rinse the decolourised leaf in water to re-soften it, then spread flat on a white tile for clear observation.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08576" y="1920240"/>
            <a:ext cx="1993392" cy="290779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F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08576" y="1920240"/>
            <a:ext cx="1993392" cy="4114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0016" y="195681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76672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🟤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4700016" y="29443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Iodine Solution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700016" y="3383280"/>
            <a:ext cx="18105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iodine solution (yellow-brown) evenly over the leaf surface and leave for 1–2 minutes to react with any starch.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739128" y="1920240"/>
            <a:ext cx="1993392" cy="2907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D994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739128" y="1920240"/>
            <a:ext cx="1993392" cy="411480"/>
          </a:xfrm>
          <a:prstGeom prst="rect">
            <a:avLst/>
          </a:prstGeom>
          <a:solidFill>
            <a:srgbClr val="2D9948"/>
          </a:solidFill>
          <a:ln w="12700">
            <a:solidFill>
              <a:srgbClr val="2D994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30568" y="195681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507224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6830568" y="29443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99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 &amp; Conclude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830568" y="3383280"/>
            <a:ext cx="18105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Blue-black colour indicates starch → photosynthesis occurred. Yellow-brown colour indicates no starch → photosynthesis absent.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1E5631">
              <a:alpha val="25000"/>
            </a:srgbClr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2D9948">
              <a:alpha val="20000"/>
            </a:srgbClr>
          </a:solidFill>
          <a:ln w="12700">
            <a:solidFill>
              <a:srgbClr val="2D99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all together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651760" cy="2944368"/>
          </a:xfrm>
          <a:prstGeom prst="rect">
            <a:avLst/>
          </a:prstGeom>
          <a:solidFill>
            <a:srgbClr val="152B22"/>
          </a:solidFill>
          <a:ln w="25400">
            <a:solidFill>
              <a:srgbClr val="00796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08760"/>
            <a:ext cx="2651760" cy="47548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8191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158191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DNA Spooling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084832"/>
            <a:ext cx="23957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is the genetic blueprint of life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+ salt + cold alcohol extracts visible DNA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core cell biology principles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1508760"/>
            <a:ext cx="2651760" cy="2944368"/>
          </a:xfrm>
          <a:prstGeom prst="rect">
            <a:avLst/>
          </a:prstGeom>
          <a:solidFill>
            <a:srgbClr val="152B22"/>
          </a:solidFill>
          <a:ln w="254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508760"/>
            <a:ext cx="26517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58191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49040" y="158191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Transpiration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83280" y="2084832"/>
            <a:ext cx="23957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lose water vapour through stomata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transpiration pull for mineral transport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by temp, humidity, wind &amp; light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72200" y="1508760"/>
            <a:ext cx="2651760" cy="2944368"/>
          </a:xfrm>
          <a:prstGeom prst="rect">
            <a:avLst/>
          </a:prstGeom>
          <a:solidFill>
            <a:srgbClr val="152B22"/>
          </a:solidFill>
          <a:ln w="25400">
            <a:solidFill>
              <a:srgbClr val="BF360C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1508760"/>
            <a:ext cx="2651760" cy="47548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581912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5120" y="158191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Photosynthesis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09360" y="2084832"/>
            <a:ext cx="239572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produce food from CO₂ + H₂O + light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stages: light &amp; dark (Calvin cycle)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all life and food chains on Earth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473659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three processes explain the fundamental mechanisms that sustain all plant life.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1915</Words>
  <Application>Microsoft Office PowerPoint</Application>
  <PresentationFormat>On-screen Show (16:9)</PresentationFormat>
  <Paragraphs>298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DNA Spooling, Transpiration and Photosynthesis</dc:title>
  <dc:subject>PptxGenJS Presentation</dc:subject>
  <dc:creator>PptxGenJS</dc:creator>
  <cp:lastModifiedBy>Natya Vidhan Biswas</cp:lastModifiedBy>
  <cp:revision>2</cp:revision>
  <dcterms:created xsi:type="dcterms:W3CDTF">2026-04-29T08:23:29Z</dcterms:created>
  <dcterms:modified xsi:type="dcterms:W3CDTF">2026-04-29T19:31:34Z</dcterms:modified>
</cp:coreProperties>
</file>