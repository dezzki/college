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hicker Bold" charset="1" panose="00000800000000000000"/>
      <p:regular r:id="rId18"/>
    </p:embeddedFont>
    <p:embeddedFont>
      <p:font typeface="Clear Sans Bold" charset="1" panose="020B0803030202020304"/>
      <p:regular r:id="rId19"/>
    </p:embeddedFont>
    <p:embeddedFont>
      <p:font typeface="Clear Sans" charset="1" panose="020B0503030202020304"/>
      <p:regular r:id="rId20"/>
    </p:embeddedFon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98668" y="2158867"/>
            <a:ext cx="14874688" cy="573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 b="true">
                <a:solidFill>
                  <a:srgbClr val="106B51"/>
                </a:solidFill>
                <a:latin typeface="Thicker Bold"/>
                <a:ea typeface="Thicker Bold"/>
                <a:cs typeface="Thicker Bold"/>
                <a:sym typeface="Thicker Bold"/>
              </a:rPr>
              <a:t>VAC</a:t>
            </a:r>
          </a:p>
          <a:p>
            <a:pPr algn="ctr">
              <a:lnSpc>
                <a:spcPts val="17426"/>
              </a:lnSpc>
            </a:pPr>
            <a:r>
              <a:rPr lang="en-US" sz="17965" b="true">
                <a:solidFill>
                  <a:srgbClr val="106B51"/>
                </a:solidFill>
                <a:latin typeface="Thicker Bold"/>
                <a:ea typeface="Thicker Bold"/>
                <a:cs typeface="Thicker Bold"/>
                <a:sym typeface="Thicker Bold"/>
              </a:rPr>
              <a:t>Presentation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971695" y="-27849"/>
            <a:ext cx="5803322" cy="5845838"/>
          </a:xfrm>
          <a:custGeom>
            <a:avLst/>
            <a:gdLst/>
            <a:ahLst/>
            <a:cxnLst/>
            <a:rect r="r" b="b" t="t" l="l"/>
            <a:pathLst>
              <a:path h="5845838" w="5803322">
                <a:moveTo>
                  <a:pt x="0" y="0"/>
                </a:moveTo>
                <a:lnTo>
                  <a:pt x="5803322" y="0"/>
                </a:lnTo>
                <a:lnTo>
                  <a:pt x="5803322" y="5845837"/>
                </a:lnTo>
                <a:lnTo>
                  <a:pt x="0" y="5845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90345" y="-1219731"/>
            <a:ext cx="4238090" cy="4114800"/>
          </a:xfrm>
          <a:custGeom>
            <a:avLst/>
            <a:gdLst/>
            <a:ahLst/>
            <a:cxnLst/>
            <a:rect r="r" b="b" t="t" l="l"/>
            <a:pathLst>
              <a:path h="4114800" w="4238090">
                <a:moveTo>
                  <a:pt x="0" y="0"/>
                </a:moveTo>
                <a:lnTo>
                  <a:pt x="4238090" y="0"/>
                </a:lnTo>
                <a:lnTo>
                  <a:pt x="42380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287214">
            <a:off x="4527858" y="7516369"/>
            <a:ext cx="6578895" cy="4114800"/>
          </a:xfrm>
          <a:custGeom>
            <a:avLst/>
            <a:gdLst/>
            <a:ahLst/>
            <a:cxnLst/>
            <a:rect r="r" b="b" t="t" l="l"/>
            <a:pathLst>
              <a:path h="4114800" w="6578895">
                <a:moveTo>
                  <a:pt x="0" y="0"/>
                </a:moveTo>
                <a:lnTo>
                  <a:pt x="6578895" y="0"/>
                </a:lnTo>
                <a:lnTo>
                  <a:pt x="65788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32764" y="4611571"/>
            <a:ext cx="3249589" cy="6429042"/>
          </a:xfrm>
          <a:custGeom>
            <a:avLst/>
            <a:gdLst/>
            <a:ahLst/>
            <a:cxnLst/>
            <a:rect r="r" b="b" t="t" l="l"/>
            <a:pathLst>
              <a:path h="6429042" w="3249589">
                <a:moveTo>
                  <a:pt x="0" y="0"/>
                </a:moveTo>
                <a:lnTo>
                  <a:pt x="3249589" y="0"/>
                </a:lnTo>
                <a:lnTo>
                  <a:pt x="3249589" y="6429042"/>
                </a:lnTo>
                <a:lnTo>
                  <a:pt x="0" y="64290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46121" y="-2057400"/>
            <a:ext cx="3975925" cy="4114800"/>
          </a:xfrm>
          <a:custGeom>
            <a:avLst/>
            <a:gdLst/>
            <a:ahLst/>
            <a:cxnLst/>
            <a:rect r="r" b="b" t="t" l="l"/>
            <a:pathLst>
              <a:path h="4114800" w="3975925">
                <a:moveTo>
                  <a:pt x="0" y="0"/>
                </a:moveTo>
                <a:lnTo>
                  <a:pt x="3975926" y="0"/>
                </a:lnTo>
                <a:lnTo>
                  <a:pt x="39759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451525" y="7368139"/>
            <a:ext cx="3975925" cy="4114800"/>
          </a:xfrm>
          <a:custGeom>
            <a:avLst/>
            <a:gdLst/>
            <a:ahLst/>
            <a:cxnLst/>
            <a:rect r="r" b="b" t="t" l="l"/>
            <a:pathLst>
              <a:path h="4114800" w="3975925">
                <a:moveTo>
                  <a:pt x="0" y="0"/>
                </a:moveTo>
                <a:lnTo>
                  <a:pt x="3975925" y="0"/>
                </a:lnTo>
                <a:lnTo>
                  <a:pt x="39759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7890267" cy="826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 spc="6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Value addion course</a:t>
            </a:r>
          </a:p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 spc="6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(Science &amp; Society)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Yash Chaurasiya (Bsc.(hons)C.S.)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University roll no. = 24035570081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College roll no. = 24/BS(H)CS/25830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Satyam Singh(Bsc.(hons)Maths.)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University roll no. = 24035563045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College roll no. = 24/BS(H)MT/26144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4601" y="1769451"/>
            <a:ext cx="17563399" cy="773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2"/>
              </a:lnSpc>
            </a:pPr>
            <a:r>
              <a:rPr lang="en-US" sz="3987" spc="43" b="true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Invisible Battleground</a:t>
            </a:r>
          </a:p>
          <a:p>
            <a:pPr algn="l" marL="860907" indent="-430453" lvl="1">
              <a:lnSpc>
                <a:spcPts val="5582"/>
              </a:lnSpc>
              <a:buFont typeface="Arial"/>
              <a:buChar char="•"/>
            </a:pPr>
            <a:r>
              <a:rPr lang="en-US" b="true" sz="3987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Hook: We live in a world teeming with trillions of microbes. Most are friends; some are foes.</a:t>
            </a:r>
          </a:p>
          <a:p>
            <a:pPr algn="l" marL="860907" indent="-430453" lvl="1">
              <a:lnSpc>
                <a:spcPts val="5582"/>
              </a:lnSpc>
              <a:buFont typeface="Arial"/>
              <a:buChar char="•"/>
            </a:pPr>
            <a:r>
              <a:rPr lang="en-US" b="true" sz="3987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Three Pillars: *</a:t>
            </a:r>
          </a:p>
          <a:p>
            <a:pPr algn="l" marL="1721813" indent="-573938" lvl="2">
              <a:lnSpc>
                <a:spcPts val="5582"/>
              </a:lnSpc>
              <a:buFont typeface="Arial"/>
              <a:buChar char="⚬"/>
            </a:pPr>
            <a:r>
              <a:rPr lang="en-US" b="true" sz="3987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Vaccines: Our training ground.</a:t>
            </a:r>
          </a:p>
          <a:p>
            <a:pPr algn="l" marL="1721813" indent="-573938" lvl="2">
              <a:lnSpc>
                <a:spcPts val="5582"/>
              </a:lnSpc>
              <a:buFont typeface="Arial"/>
              <a:buChar char="⚬"/>
            </a:pPr>
            <a:r>
              <a:rPr lang="en-US" b="true" sz="3987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Antibiotics: Our emergency response.</a:t>
            </a:r>
          </a:p>
          <a:p>
            <a:pPr algn="l" marL="1721813" indent="-573938" lvl="2">
              <a:lnSpc>
                <a:spcPts val="5582"/>
              </a:lnSpc>
              <a:buFont typeface="Arial"/>
              <a:buChar char="⚬"/>
            </a:pPr>
            <a:r>
              <a:rPr lang="en-US" b="true" sz="3987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AMR: The ultimate evolutionary challenge.</a:t>
            </a:r>
          </a:p>
          <a:p>
            <a:pPr algn="l" marL="860907" indent="-430453" lvl="1">
              <a:lnSpc>
                <a:spcPts val="5582"/>
              </a:lnSpc>
              <a:buFont typeface="Arial"/>
              <a:buChar char="•"/>
            </a:pPr>
            <a:r>
              <a:rPr lang="en-US" b="true" sz="3987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Human Connection: Every major medical advancement—from basic surgery to cancer treatment—relies on these three pillars staying strong.</a:t>
            </a:r>
          </a:p>
          <a:p>
            <a:pPr algn="l">
              <a:lnSpc>
                <a:spcPts val="558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350" y="1083142"/>
            <a:ext cx="17773650" cy="844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0907" indent="-430453" lvl="1">
              <a:lnSpc>
                <a:spcPts val="55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87" spc="43" strike="noStrike" u="none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Teaching the Body to Fight</a:t>
            </a:r>
          </a:p>
          <a:p>
            <a:pPr algn="l" marL="860907" indent="-430453" lvl="1">
              <a:lnSpc>
                <a:spcPts val="55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87" spc="43" strike="noStrike" u="none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Concept:</a:t>
            </a:r>
            <a:r>
              <a:rPr lang="en-US" sz="3987" spc="43" strike="noStrike" u="none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Think of a vaccine as a "Most Wanted" poster for your immune system.</a:t>
            </a:r>
          </a:p>
          <a:p>
            <a:pPr algn="l" marL="860907" indent="-430453" lvl="1">
              <a:lnSpc>
                <a:spcPts val="55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87" spc="43" strike="noStrike" u="none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Detailed Content:</a:t>
            </a:r>
          </a:p>
          <a:p>
            <a:pPr algn="l" marL="860907" indent="-430453" lvl="1">
              <a:lnSpc>
                <a:spcPts val="55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87" spc="43" strike="noStrike" u="none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Immune Memory: </a:t>
            </a:r>
            <a:r>
              <a:rPr lang="en-US" sz="3987" spc="43" strike="noStrike" u="none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Vaccines introduce a harmless "ghost" or fragment of a germ. Your body builds a specialized army (antibodies) without you ever getting sick.</a:t>
            </a:r>
          </a:p>
          <a:p>
            <a:pPr algn="l" marL="860907" indent="-430453" lvl="1">
              <a:lnSpc>
                <a:spcPts val="55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87" spc="43" strike="noStrike" u="none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"Training" Phase: </a:t>
            </a:r>
            <a:r>
              <a:rPr lang="en-US" sz="3987" spc="43" strike="noStrike" u="none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When the real virus attacks months later, your body recognizes it instantly and neutralizes it before it can take hold.</a:t>
            </a:r>
          </a:p>
          <a:p>
            <a:pPr algn="l" marL="860907" indent="-430453" lvl="1">
              <a:lnSpc>
                <a:spcPts val="55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87" spc="43" strike="noStrike" u="none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Human Element:</a:t>
            </a:r>
            <a:r>
              <a:rPr lang="en-US" sz="3987" spc="43" strike="noStrike" u="none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It’s not just about "you." It’s about Herd Immunity—protecting the baby who is too young for a shot or the grandmother whose immune system is tired.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1981" y="942975"/>
            <a:ext cx="17706019" cy="844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  <a:spcBef>
                <a:spcPct val="0"/>
              </a:spcBef>
            </a:pPr>
            <a:r>
              <a:rPr lang="en-US" b="true" sz="3990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Antibi</a:t>
            </a:r>
            <a:r>
              <a:rPr lang="en-US" b="true" sz="3990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otics – The 20th Century Miracle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History: </a:t>
            </a:r>
            <a:r>
              <a:rPr lang="en-US" sz="3990" spc="43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Before 1928, a simple scratch from a rose thorn or a sore throat could be a death sentence.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How They Work (Humanized):</a:t>
            </a:r>
          </a:p>
          <a:p>
            <a:pPr algn="l" marL="1722882" indent="-574294" lvl="2">
              <a:lnSpc>
                <a:spcPts val="558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0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Sniper Approach: </a:t>
            </a:r>
            <a:r>
              <a:rPr lang="en-US" sz="3990" spc="43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Antibiotics are designed to attack parts of a bacterial cell that human cells don't have (like cell walls).</a:t>
            </a:r>
          </a:p>
          <a:p>
            <a:pPr algn="l" marL="1722882" indent="-574294" lvl="2">
              <a:lnSpc>
                <a:spcPts val="558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0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Success Story: </a:t>
            </a:r>
            <a:r>
              <a:rPr lang="en-US" sz="3990" spc="43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They turned lethal diseases like pneumonia, syphilis, and tuberculosis into manageable conditions.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Misconception: </a:t>
            </a:r>
            <a:r>
              <a:rPr lang="en-US" sz="3990" spc="43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Antibiotics are "bacteria-only." Using them for a viral cold is like bringing a sword to a ghost fight—it doesn't hit the target and only causes collateral damage.</a:t>
            </a:r>
          </a:p>
          <a:p>
            <a:pPr algn="l">
              <a:lnSpc>
                <a:spcPts val="55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0744" y="815721"/>
            <a:ext cx="16441852" cy="844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  <a:spcBef>
                <a:spcPct val="0"/>
              </a:spcBef>
            </a:pPr>
            <a:r>
              <a:rPr lang="en-US" b="true" sz="3990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The Rise </a:t>
            </a:r>
            <a:r>
              <a:rPr lang="en-US" b="true" sz="3990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of the Superbug (AMR)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Crisis:</a:t>
            </a:r>
            <a:r>
              <a:rPr lang="en-US" sz="3990" spc="43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Antimicrobial Resistance (AMR) is what happens when germs develop "superpowers" to survive the drugs designed to kill them.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Mechanism of Survival:</a:t>
            </a:r>
          </a:p>
          <a:p>
            <a:pPr algn="l" marL="1722882" indent="-574294" lvl="2">
              <a:lnSpc>
                <a:spcPts val="558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0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Mutation:</a:t>
            </a:r>
            <a:r>
              <a:rPr lang="en-US" sz="3990" spc="43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 Bacteria reproduce every 20 minutes. If one survives a weak dose of antibiotics, it learns, adapts, and passes that "resistance gene" to its offspring.</a:t>
            </a:r>
          </a:p>
          <a:p>
            <a:pPr algn="l" marL="1722882" indent="-574294" lvl="2">
              <a:lnSpc>
                <a:spcPts val="558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0" spc="43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The Result: </a:t>
            </a:r>
            <a:r>
              <a:rPr lang="en-US" sz="3990" spc="43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We are running out of working medicine. Routine surgeries like C-sections or hip replacements could soon become life-threatening due to untreatable infections.</a:t>
            </a:r>
          </a:p>
          <a:p>
            <a:pPr algn="l">
              <a:lnSpc>
                <a:spcPts val="55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6275" y="1530096"/>
            <a:ext cx="16413050" cy="772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399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is AMR Getting Worse? (Our Role)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Human Behavior: * Stopping Early: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When you feel better and stop your meds, the weakest bacteria are dead, but the strongest are still alive. 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You've essentially "trained" the survivors.</a:t>
            </a:r>
          </a:p>
          <a:p>
            <a:pPr algn="l" marL="1722882" indent="-574294" lvl="2">
              <a:lnSpc>
                <a:spcPts val="558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"Just in Case" Culture: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Demanding antibiotics for a cough or flu "just to be safe" accelerates resistance.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Global Kitchen: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70% of medically important antibiotics are used in animal agriculture not to treat sick animals, but to make them grow faster. We are eating the consequences.</a:t>
            </a:r>
          </a:p>
          <a:p>
            <a:pPr algn="l">
              <a:lnSpc>
                <a:spcPts val="55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7794" y="1593723"/>
            <a:ext cx="16541506" cy="702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399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"Post-Antibiotic" Era – A Warning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Scenari</a:t>
            </a: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o: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Imagine a world where a common UTI (Urinary Tract Infection) cannot be cured, leading to kidney failure.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Stats: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AMR is already linked to nearly 5 million deaths globally per year. By 2050, it could kill more people than cancer.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Human Impact: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Modern medicine is a "house of cards." If the bottom layer (antibiotics) collapses, everything else—chemotherapy, organ transplants, and intensive care—falls with it.</a:t>
            </a:r>
          </a:p>
          <a:p>
            <a:pPr algn="l">
              <a:lnSpc>
                <a:spcPts val="55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8860" y="952500"/>
            <a:ext cx="16450280" cy="772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399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Vaccines as the Secret Weapon against AMR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Logic: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 don't need antibiotics for an infection you never catch.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Vaccines Help:</a:t>
            </a:r>
          </a:p>
          <a:p>
            <a:pPr algn="l" marL="1722882" indent="-574294" lvl="2">
              <a:lnSpc>
                <a:spcPts val="558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Reduced Usage: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Fewer infections mean fewer prescriptions.</a:t>
            </a:r>
          </a:p>
          <a:p>
            <a:pPr algn="l" marL="1722882" indent="-574294" lvl="2">
              <a:lnSpc>
                <a:spcPts val="5586"/>
              </a:lnSpc>
              <a:spcBef>
                <a:spcPct val="0"/>
              </a:spcBef>
              <a:buFont typeface="Arial"/>
              <a:buChar char="⚬"/>
            </a:pP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Targeting the Source: Vaccines like the PCV (Pneumococcal) have drastically reduced the spread of drug-resistant pneumonia strains.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Takeaway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Vaccination isn't just about preventing a virus; it’s a strategic move to preserve our existing antibiotic supply.</a:t>
            </a:r>
          </a:p>
          <a:p>
            <a:pPr algn="l">
              <a:lnSpc>
                <a:spcPts val="55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6390" y="479600"/>
            <a:ext cx="16422910" cy="843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399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Path Forward – What Can We Do?</a:t>
            </a:r>
          </a:p>
          <a:p>
            <a:pPr algn="l" marL="861441" indent="-430721" lvl="1">
              <a:lnSpc>
                <a:spcPts val="5586"/>
              </a:lnSpc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Scientific Innovation: 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need "Phage Therapy" (using viruses to kill bacteria) and new classes of drugs</a:t>
            </a: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l" marL="861441" indent="-430721" lvl="1">
              <a:lnSpc>
                <a:spcPts val="5586"/>
              </a:lnSpc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Policy Changes: 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Restricting antibiotic use in farming and improving hospital sanitation.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Your Personal Responsibility:</a:t>
            </a:r>
          </a:p>
          <a:p>
            <a:pPr algn="l" marL="1722882" indent="-574294" lvl="2">
              <a:lnSpc>
                <a:spcPts val="558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Hygiene: 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Simple handwashing is the first line of defense.</a:t>
            </a:r>
          </a:p>
          <a:p>
            <a:pPr algn="l" marL="1722882" indent="-574294" lvl="2">
              <a:lnSpc>
                <a:spcPts val="558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Patience: 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Trusting doctors when they say "it's a virus, you don't need a pill."</a:t>
            </a:r>
          </a:p>
          <a:p>
            <a:pPr algn="l" marL="1722882" indent="-574294" lvl="2">
              <a:lnSpc>
                <a:spcPts val="558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Advocacy: 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Supporting global health initiatives to ensure everyone has access to clean water.</a:t>
            </a:r>
          </a:p>
          <a:p>
            <a:pPr algn="l">
              <a:lnSpc>
                <a:spcPts val="55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350" y="952500"/>
            <a:ext cx="17773650" cy="5613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6"/>
              </a:lnSpc>
              <a:spcBef>
                <a:spcPct val="0"/>
              </a:spcBef>
            </a:pPr>
            <a:r>
              <a:rPr lang="en-US" sz="399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Summary – The Balance </a:t>
            </a: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of Power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Partnership: 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are in a constant race with nature.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Prevention (Vaccines) &gt; Treatment (Antibiotics).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Respect the Meds: 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must treat our remaining antibiotics as a precious, non-renewable resource.</a:t>
            </a:r>
          </a:p>
          <a:p>
            <a:pPr algn="l" marL="861441" indent="-430721" lvl="1">
              <a:lnSpc>
                <a:spcPts val="55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Quote: </a:t>
            </a:r>
            <a:r>
              <a:rPr lang="en-US" sz="399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"The bacteria are smart, but humans are supposed to be smarter. Let's act like it."</a:t>
            </a:r>
          </a:p>
          <a:p>
            <a:pPr algn="l">
              <a:lnSpc>
                <a:spcPts val="55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5774" y="2608030"/>
            <a:ext cx="10201156" cy="6941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77"/>
              </a:lnSpc>
            </a:pPr>
            <a:r>
              <a:rPr lang="en-US" sz="1319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THANK YOU!</a:t>
            </a:r>
          </a:p>
          <a:p>
            <a:pPr algn="ctr">
              <a:lnSpc>
                <a:spcPts val="18477"/>
              </a:lnSpc>
            </a:pPr>
          </a:p>
          <a:p>
            <a:pPr algn="ctr">
              <a:lnSpc>
                <a:spcPts val="184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DAHCHE20AUs</dc:identifier>
  <dcterms:modified xsi:type="dcterms:W3CDTF">2011-08-01T06:04:30Z</dcterms:modified>
  <cp:revision>1</cp:revision>
  <dc:title>VAC Project</dc:title>
</cp:coreProperties>
</file>