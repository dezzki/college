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0" r:id="rId10"/>
    <p:sldId id="263" r:id="rId11"/>
    <p:sldId id="273" r:id="rId12"/>
    <p:sldId id="264" r:id="rId13"/>
    <p:sldId id="265" r:id="rId14"/>
    <p:sldId id="269" r:id="rId15"/>
    <p:sldId id="268" r:id="rId16"/>
    <p:sldId id="271" r:id="rId17"/>
    <p:sldId id="266" r:id="rId18"/>
    <p:sldId id="267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54574D-9922-4D6B-9C0C-99CE4C671523}" v="214" dt="2026-02-28T11:22:58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HIKA JAIN" userId="6b8595b51e221862" providerId="LiveId" clId="{9A620F0F-3022-487A-AC7F-B3F24B7907DD}"/>
    <pc:docChg chg="undo custSel modSld sldOrd">
      <pc:chgData name="AASHIKA JAIN" userId="6b8595b51e221862" providerId="LiveId" clId="{9A620F0F-3022-487A-AC7F-B3F24B7907DD}" dt="2026-03-01T06:05:32.765" v="262"/>
      <pc:docMkLst>
        <pc:docMk/>
      </pc:docMkLst>
      <pc:sldChg chg="modSp mod">
        <pc:chgData name="AASHIKA JAIN" userId="6b8595b51e221862" providerId="LiveId" clId="{9A620F0F-3022-487A-AC7F-B3F24B7907DD}" dt="2026-02-18T13:10:02.815" v="3" actId="14100"/>
        <pc:sldMkLst>
          <pc:docMk/>
          <pc:sldMk cId="0" sldId="258"/>
        </pc:sldMkLst>
        <pc:spChg chg="mod">
          <ac:chgData name="AASHIKA JAIN" userId="6b8595b51e221862" providerId="LiveId" clId="{9A620F0F-3022-487A-AC7F-B3F24B7907DD}" dt="2026-02-18T13:10:02.815" v="3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ASHIKA JAIN" userId="6b8595b51e221862" providerId="LiveId" clId="{9A620F0F-3022-487A-AC7F-B3F24B7907DD}" dt="2026-02-18T13:10:25.956" v="5" actId="255"/>
        <pc:sldMkLst>
          <pc:docMk/>
          <pc:sldMk cId="0" sldId="266"/>
        </pc:sldMkLst>
        <pc:spChg chg="mod">
          <ac:chgData name="AASHIKA JAIN" userId="6b8595b51e221862" providerId="LiveId" clId="{9A620F0F-3022-487A-AC7F-B3F24B7907DD}" dt="2026-02-18T13:10:25.956" v="5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ASHIKA JAIN" userId="6b8595b51e221862" providerId="LiveId" clId="{9A620F0F-3022-487A-AC7F-B3F24B7907DD}" dt="2026-02-28T11:11:14.978" v="58" actId="12"/>
        <pc:sldMkLst>
          <pc:docMk/>
          <pc:sldMk cId="0" sldId="267"/>
        </pc:sldMkLst>
        <pc:spChg chg="mod">
          <ac:chgData name="AASHIKA JAIN" userId="6b8595b51e221862" providerId="LiveId" clId="{9A620F0F-3022-487A-AC7F-B3F24B7907DD}" dt="2026-02-28T11:11:14.978" v="58" actId="12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mod ord">
        <pc:chgData name="AASHIKA JAIN" userId="6b8595b51e221862" providerId="LiveId" clId="{9A620F0F-3022-487A-AC7F-B3F24B7907DD}" dt="2026-03-01T06:05:32.765" v="262"/>
        <pc:sldMkLst>
          <pc:docMk/>
          <pc:sldMk cId="0" sldId="269"/>
        </pc:sldMkLst>
        <pc:spChg chg="add del mod">
          <ac:chgData name="AASHIKA JAIN" userId="6b8595b51e221862" providerId="LiveId" clId="{9A620F0F-3022-487A-AC7F-B3F24B7907DD}" dt="2026-02-28T11:05:15.027" v="50"/>
          <ac:spMkLst>
            <pc:docMk/>
            <pc:sldMk cId="0" sldId="269"/>
            <ac:spMk id="4" creationId="{07420BDD-8D1B-24B5-8CD3-A82542F0F247}"/>
          </ac:spMkLst>
        </pc:spChg>
        <pc:spChg chg="add mod">
          <ac:chgData name="AASHIKA JAIN" userId="6b8595b51e221862" providerId="LiveId" clId="{9A620F0F-3022-487A-AC7F-B3F24B7907DD}" dt="2026-02-28T11:20:04.306" v="128" actId="20577"/>
          <ac:spMkLst>
            <pc:docMk/>
            <pc:sldMk cId="0" sldId="269"/>
            <ac:spMk id="5" creationId="{073FEF54-276A-ADB5-605B-122F97AC9E93}"/>
          </ac:spMkLst>
        </pc:spChg>
        <pc:spChg chg="add mod">
          <ac:chgData name="AASHIKA JAIN" userId="6b8595b51e221862" providerId="LiveId" clId="{9A620F0F-3022-487A-AC7F-B3F24B7907DD}" dt="2026-02-28T11:04:31.697" v="39"/>
          <ac:spMkLst>
            <pc:docMk/>
            <pc:sldMk cId="0" sldId="269"/>
            <ac:spMk id="6" creationId="{AFD8C900-08D5-3FF1-C0FF-977343AE7CAF}"/>
          </ac:spMkLst>
        </pc:spChg>
        <pc:spChg chg="add del mod">
          <ac:chgData name="AASHIKA JAIN" userId="6b8595b51e221862" providerId="LiveId" clId="{9A620F0F-3022-487A-AC7F-B3F24B7907DD}" dt="2026-02-28T11:07:03.449" v="55"/>
          <ac:spMkLst>
            <pc:docMk/>
            <pc:sldMk cId="0" sldId="269"/>
            <ac:spMk id="8" creationId="{9E24E2FE-5014-8B85-2D37-CE1A8AC7C684}"/>
          </ac:spMkLst>
        </pc:spChg>
        <pc:spChg chg="add del mod">
          <ac:chgData name="AASHIKA JAIN" userId="6b8595b51e221862" providerId="LiveId" clId="{9A620F0F-3022-487A-AC7F-B3F24B7907DD}" dt="2026-02-28T11:20:05.735" v="130"/>
          <ac:spMkLst>
            <pc:docMk/>
            <pc:sldMk cId="0" sldId="269"/>
            <ac:spMk id="9" creationId="{85E9C38D-845B-6008-894F-A05BE7F54E91}"/>
          </ac:spMkLst>
        </pc:spChg>
        <pc:picChg chg="mod">
          <ac:chgData name="AASHIKA JAIN" userId="6b8595b51e221862" providerId="LiveId" clId="{9A620F0F-3022-487A-AC7F-B3F24B7907DD}" dt="2026-02-28T11:20:18.417" v="132" actId="1076"/>
          <ac:picMkLst>
            <pc:docMk/>
            <pc:sldMk cId="0" sldId="269"/>
            <ac:picMk id="3" creationId="{00000000-0000-0000-0000-000000000000}"/>
          </ac:picMkLst>
        </pc:picChg>
      </pc:sldChg>
      <pc:sldChg chg="addSp modSp mod ord">
        <pc:chgData name="AASHIKA JAIN" userId="6b8595b51e221862" providerId="LiveId" clId="{9A620F0F-3022-487A-AC7F-B3F24B7907DD}" dt="2026-03-01T06:03:43.904" v="256"/>
        <pc:sldMkLst>
          <pc:docMk/>
          <pc:sldMk cId="0" sldId="270"/>
        </pc:sldMkLst>
        <pc:spChg chg="add mod">
          <ac:chgData name="AASHIKA JAIN" userId="6b8595b51e221862" providerId="LiveId" clId="{9A620F0F-3022-487A-AC7F-B3F24B7907DD}" dt="2026-02-28T11:17:43.876" v="83" actId="14100"/>
          <ac:spMkLst>
            <pc:docMk/>
            <pc:sldMk cId="0" sldId="270"/>
            <ac:spMk id="5" creationId="{F9DC977C-83D5-01EA-BA71-83E3B5F3BBE5}"/>
          </ac:spMkLst>
        </pc:spChg>
        <pc:picChg chg="mod">
          <ac:chgData name="AASHIKA JAIN" userId="6b8595b51e221862" providerId="LiveId" clId="{9A620F0F-3022-487A-AC7F-B3F24B7907DD}" dt="2026-02-28T11:17:47.804" v="84" actId="1076"/>
          <ac:picMkLst>
            <pc:docMk/>
            <pc:sldMk cId="0" sldId="270"/>
            <ac:picMk id="3" creationId="{00000000-0000-0000-0000-000000000000}"/>
          </ac:picMkLst>
        </pc:picChg>
      </pc:sldChg>
      <pc:sldChg chg="addSp delSp modSp mod ord">
        <pc:chgData name="AASHIKA JAIN" userId="6b8595b51e221862" providerId="LiveId" clId="{9A620F0F-3022-487A-AC7F-B3F24B7907DD}" dt="2026-03-01T06:05:00.814" v="258"/>
        <pc:sldMkLst>
          <pc:docMk/>
          <pc:sldMk cId="0" sldId="271"/>
        </pc:sldMkLst>
        <pc:spChg chg="add del mod">
          <ac:chgData name="AASHIKA JAIN" userId="6b8595b51e221862" providerId="LiveId" clId="{9A620F0F-3022-487A-AC7F-B3F24B7907DD}" dt="2026-02-28T11:23:09.710" v="229"/>
          <ac:spMkLst>
            <pc:docMk/>
            <pc:sldMk cId="0" sldId="271"/>
            <ac:spMk id="4" creationId="{FDAB565F-7F59-61E7-379E-9833AD0F29FE}"/>
          </ac:spMkLst>
        </pc:spChg>
        <pc:spChg chg="add mod">
          <ac:chgData name="AASHIKA JAIN" userId="6b8595b51e221862" providerId="LiveId" clId="{9A620F0F-3022-487A-AC7F-B3F24B7907DD}" dt="2026-02-28T11:25:03.056" v="250" actId="14100"/>
          <ac:spMkLst>
            <pc:docMk/>
            <pc:sldMk cId="0" sldId="271"/>
            <ac:spMk id="6" creationId="{7379AF5F-9FB7-1DDD-04C0-E1FED02CCB63}"/>
          </ac:spMkLst>
        </pc:spChg>
        <pc:picChg chg="mod">
          <ac:chgData name="AASHIKA JAIN" userId="6b8595b51e221862" providerId="LiveId" clId="{9A620F0F-3022-487A-AC7F-B3F24B7907DD}" dt="2026-02-28T11:20:32.704" v="136" actId="1076"/>
          <ac:picMkLst>
            <pc:docMk/>
            <pc:sldMk cId="0" sldId="271"/>
            <ac:picMk id="3" creationId="{00000000-0000-0000-0000-000000000000}"/>
          </ac:picMkLst>
        </pc:picChg>
      </pc:sldChg>
      <pc:sldChg chg="modSp mod ord">
        <pc:chgData name="AASHIKA JAIN" userId="6b8595b51e221862" providerId="LiveId" clId="{9A620F0F-3022-487A-AC7F-B3F24B7907DD}" dt="2026-03-01T06:03:16.852" v="254"/>
        <pc:sldMkLst>
          <pc:docMk/>
          <pc:sldMk cId="0" sldId="272"/>
        </pc:sldMkLst>
        <pc:spChg chg="mod">
          <ac:chgData name="AASHIKA JAIN" userId="6b8595b51e221862" providerId="LiveId" clId="{9A620F0F-3022-487A-AC7F-B3F24B7907DD}" dt="2026-02-18T13:11:09.797" v="15" actId="113"/>
          <ac:spMkLst>
            <pc:docMk/>
            <pc:sldMk cId="0" sldId="272"/>
            <ac:spMk id="2" creationId="{00000000-0000-0000-0000-000000000000}"/>
          </ac:spMkLst>
        </pc:spChg>
        <pc:picChg chg="mod">
          <ac:chgData name="AASHIKA JAIN" userId="6b8595b51e221862" providerId="LiveId" clId="{9A620F0F-3022-487A-AC7F-B3F24B7907DD}" dt="2026-02-28T11:25:17.450" v="252" actId="1076"/>
          <ac:picMkLst>
            <pc:docMk/>
            <pc:sldMk cId="0" sldId="272"/>
            <ac:picMk id="3" creationId="{00000000-0000-0000-0000-000000000000}"/>
          </ac:picMkLst>
        </pc:picChg>
      </pc:sldChg>
      <pc:sldChg chg="modSp mod ord">
        <pc:chgData name="AASHIKA JAIN" userId="6b8595b51e221862" providerId="LiveId" clId="{9A620F0F-3022-487A-AC7F-B3F24B7907DD}" dt="2026-02-28T11:01:11.882" v="32"/>
        <pc:sldMkLst>
          <pc:docMk/>
          <pc:sldMk cId="0" sldId="273"/>
        </pc:sldMkLst>
        <pc:spChg chg="mod">
          <ac:chgData name="AASHIKA JAIN" userId="6b8595b51e221862" providerId="LiveId" clId="{9A620F0F-3022-487A-AC7F-B3F24B7907DD}" dt="2026-02-18T13:10:53.354" v="11" actId="14100"/>
          <ac:spMkLst>
            <pc:docMk/>
            <pc:sldMk cId="0" sldId="273"/>
            <ac:spMk id="2" creationId="{00000000-0000-0000-0000-000000000000}"/>
          </ac:spMkLst>
        </pc:spChg>
        <pc:picChg chg="mod">
          <ac:chgData name="AASHIKA JAIN" userId="6b8595b51e221862" providerId="LiveId" clId="{9A620F0F-3022-487A-AC7F-B3F24B7907DD}" dt="2026-02-18T13:11:50.339" v="17" actId="1076"/>
          <ac:picMkLst>
            <pc:docMk/>
            <pc:sldMk cId="0" sldId="273"/>
            <ac:picMk id="3" creationId="{00000000-0000-0000-0000-000000000000}"/>
          </ac:picMkLst>
        </pc:picChg>
      </pc:sldChg>
      <pc:sldChg chg="modSp mod">
        <pc:chgData name="AASHIKA JAIN" userId="6b8595b51e221862" providerId="LiveId" clId="{9A620F0F-3022-487A-AC7F-B3F24B7907DD}" dt="2026-02-18T13:08:20.108" v="1" actId="14100"/>
        <pc:sldMkLst>
          <pc:docMk/>
          <pc:sldMk cId="4036293118" sldId="274"/>
        </pc:sldMkLst>
        <pc:spChg chg="mod">
          <ac:chgData name="AASHIKA JAIN" userId="6b8595b51e221862" providerId="LiveId" clId="{9A620F0F-3022-487A-AC7F-B3F24B7907DD}" dt="2026-02-18T13:08:20.108" v="1" actId="14100"/>
          <ac:spMkLst>
            <pc:docMk/>
            <pc:sldMk cId="4036293118" sldId="274"/>
            <ac:spMk id="3" creationId="{CEEE6A8B-B325-318A-F17F-9D806E09A6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6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5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0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9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4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51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4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7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8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0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6422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2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8740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24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4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1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2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" y="1091382"/>
            <a:ext cx="9070848" cy="1907458"/>
          </a:xfrm>
        </p:spPr>
        <p:txBody>
          <a:bodyPr/>
          <a:lstStyle/>
          <a:p>
            <a:r>
              <a:rPr b="1"/>
              <a:t>Clean and Renewable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4387" y="4699818"/>
            <a:ext cx="3470787" cy="19074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KHYATI JAIN- 26317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MEGHNA RAWAT- 26320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677" y="624110"/>
            <a:ext cx="7108723" cy="1280890"/>
          </a:xfrm>
        </p:spPr>
        <p:txBody>
          <a:bodyPr/>
          <a:lstStyle/>
          <a:p>
            <a:r>
              <a:rPr lang="en-IN" b="1"/>
              <a:t>Energy and Modern Society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77" y="1759974"/>
            <a:ext cx="7256206" cy="4660490"/>
          </a:xfrm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is the foundation of industrial growth, transportation, healthcare, communication, and digital infrastructure.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population growth and industrialization have significantly increased global energy demand.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of the current energy supply comes from fossil fuels such as coal, oil, and natural gas.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Overdependence on fossil fuels has resulted in pollution, climate change, and environmental imbalance.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a transition toward sustainable and clean energy systems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019" y="624110"/>
            <a:ext cx="7187381" cy="1280890"/>
          </a:xfrm>
        </p:spPr>
        <p:txBody>
          <a:bodyPr/>
          <a:lstStyle/>
          <a:p>
            <a:r>
              <a:rPr lang="en-IN" b="1"/>
              <a:t>Concept of Clean Energy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7019" y="1730477"/>
            <a:ext cx="7187381" cy="4847303"/>
          </a:xfrm>
        </p:spPr>
        <p:txBody>
          <a:bodyPr wrap="square"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Clean energy refers to energy sources that produce minimal or zero pollution during electricity generation.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does not emit harmful greenhouse gases like carbon dioxide, sulfur dioxide, and nitrogen oxides.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Clean energy improves air quality and reduces health risks associated with pollution.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supports ecological balance and protects biodiversity.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Clean energy technologies are developed using advanced scientific principles.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007" y="629265"/>
            <a:ext cx="7066608" cy="1504335"/>
          </a:xfrm>
        </p:spPr>
        <p:txBody>
          <a:bodyPr/>
          <a:lstStyle/>
          <a:p>
            <a:r>
              <a:rPr lang="en-IN" b="1"/>
              <a:t>Understanding Renewable Energy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007" y="2133600"/>
            <a:ext cx="7069393" cy="3777622"/>
          </a:xfrm>
        </p:spPr>
        <p:txBody>
          <a:bodyPr wrap="square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energy is derived from natural sources that are continuously replenished.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sources do not get exhausted with usage and are sustainable in the long term.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energy reduces dependence on imported fossil fuels.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ensures long-term energy security for future generations.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promotes environmentally responsible economic development.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3665" y="624110"/>
            <a:ext cx="6990735" cy="1280890"/>
          </a:xfrm>
        </p:spPr>
        <p:txBody>
          <a:bodyPr/>
          <a:lstStyle/>
          <a:p>
            <a:r>
              <a:rPr lang="en-US" b="1" dirty="0"/>
              <a:t>Major Types of Renewable Energy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665" y="2133600"/>
            <a:ext cx="6990735" cy="3777622"/>
          </a:xfrm>
        </p:spPr>
        <p:txBody>
          <a:bodyPr wrap="square"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Solar energy converts sunlight into electricity using photovoltaic cells.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Wind energy generates power by converting kinetic energy of moving air into mechanical energy.</a:t>
            </a:r>
            <a:endParaRPr dirty="0"/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r>
              <a:rPr lang="en-US" dirty="0"/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produces electricity using flowing or falling water.</a:t>
            </a:r>
            <a:endParaRPr dirty="0"/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Biomass energy uses organic waste and plant material to generate fuel or electricity.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Geothermal energy utilizes heat from beneath the Earth’s surface.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3665" y="624110"/>
            <a:ext cx="6990735" cy="1280890"/>
          </a:xfrm>
        </p:spPr>
        <p:txBody>
          <a:bodyPr/>
          <a:lstStyle/>
          <a:p>
            <a:r>
              <a:rPr lang="en-IN" b="1" dirty="0"/>
              <a:t>Scientific Principles Behind Renewable Energy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665" y="2133600"/>
            <a:ext cx="6990735" cy="3777622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Solar panels work on the photovoltaic effect where photons excite electrons in semiconductor materials.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Wind turbines operate using aerodynamic principles to rotate blades and generate electricity.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Hydropower plants convert gravitational potential energy of water into electrical energy.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Biomass energy is based on chemical energy stored through photosynthesis.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Scientific research improves efficiency and reduces cost of these technologies.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994" y="624110"/>
            <a:ext cx="6951406" cy="1280890"/>
          </a:xfrm>
        </p:spPr>
        <p:txBody>
          <a:bodyPr/>
          <a:lstStyle/>
          <a:p>
            <a:r>
              <a:rPr b="1" dirty="0"/>
              <a:t>Working of Solar Panel</a:t>
            </a:r>
          </a:p>
        </p:txBody>
      </p:sp>
      <p:pic>
        <p:nvPicPr>
          <p:cNvPr id="3" name="Picture 2" descr="sola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816509"/>
            <a:ext cx="4834276" cy="36257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169" y="624110"/>
            <a:ext cx="7020232" cy="1280890"/>
          </a:xfrm>
        </p:spPr>
        <p:txBody>
          <a:bodyPr/>
          <a:lstStyle/>
          <a:p>
            <a:r>
              <a:rPr lang="en-US" b="1" dirty="0"/>
              <a:t>Environmental Problems Caused by Fossil Fuels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169" y="2133600"/>
            <a:ext cx="7020232" cy="3777622"/>
          </a:xfrm>
        </p:spPr>
        <p:txBody>
          <a:bodyPr wrap="square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Burning fossil fuels releases large quantities of carbon dioxide, contributing to global warming.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Emission of sulfur dioxide and nitrogen oxides leads to acid rain.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spills cause severe damage to marine ecosystems.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Coal mining results in land degradation and water pollution.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fossil fuel use disturbs the natural carbon cycle.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624110"/>
            <a:ext cx="6980903" cy="1280890"/>
          </a:xfrm>
        </p:spPr>
        <p:txBody>
          <a:bodyPr>
            <a:normAutofit/>
          </a:bodyPr>
          <a:lstStyle/>
          <a:p>
            <a:r>
              <a:rPr b="1" dirty="0"/>
              <a:t>CO2 Emissions by Energy Source</a:t>
            </a:r>
          </a:p>
        </p:txBody>
      </p:sp>
      <p:pic>
        <p:nvPicPr>
          <p:cNvPr id="3" name="Picture 2" descr="grap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5" y="2023833"/>
            <a:ext cx="4122993" cy="3092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DC977C-83D5-01EA-BA71-83E3B5F3BBE5}"/>
              </a:ext>
            </a:extLst>
          </p:cNvPr>
          <p:cNvSpPr txBox="1"/>
          <p:nvPr/>
        </p:nvSpPr>
        <p:spPr>
          <a:xfrm>
            <a:off x="4729317" y="2415794"/>
            <a:ext cx="43163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Coal has the highest carbon emissions.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Oil and gas also emit large amounts of CO₂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Solar and wind produce very low emissions.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Renewable energy helps reduce global warming.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671" y="624110"/>
            <a:ext cx="7049729" cy="1280890"/>
          </a:xfrm>
        </p:spPr>
        <p:txBody>
          <a:bodyPr/>
          <a:lstStyle/>
          <a:p>
            <a:r>
              <a:rPr lang="en-US" b="1" dirty="0"/>
              <a:t>Renewable Energy and Global Warming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671" y="2133600"/>
            <a:ext cx="7049729" cy="3777622"/>
          </a:xfrm>
        </p:spPr>
        <p:txBody>
          <a:bodyPr wrap="square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warming is caused by accumulation of greenhouse gases in the atmosphere.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Fossil fuels are the major source of greenhouse gas emissions.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energy sources emit negligible greenhouse gases during operation.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 of renewable energy helps reduce carbon footprint.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Large-scale renewable deployment can stabilize global climate systems.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671" y="624110"/>
            <a:ext cx="7049729" cy="1280890"/>
          </a:xfrm>
        </p:spPr>
        <p:txBody>
          <a:bodyPr/>
          <a:lstStyle/>
          <a:p>
            <a:r>
              <a:rPr b="1" dirty="0"/>
              <a:t>Greenhouse Effect</a:t>
            </a:r>
          </a:p>
        </p:txBody>
      </p:sp>
      <p:pic>
        <p:nvPicPr>
          <p:cNvPr id="3" name="Picture 2" descr="greenhou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29" y="1836174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827" y="624110"/>
            <a:ext cx="6941574" cy="1280890"/>
          </a:xfrm>
        </p:spPr>
        <p:txBody>
          <a:bodyPr/>
          <a:lstStyle/>
          <a:p>
            <a:r>
              <a:rPr lang="en-US" b="1" dirty="0"/>
              <a:t>Advantages of Clean and Renewable Energy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827" y="2133600"/>
            <a:ext cx="6941574" cy="3777622"/>
          </a:xfrm>
        </p:spPr>
        <p:txBody>
          <a:bodyPr wrap="square"/>
          <a:lstStyle/>
          <a:p>
            <a:r>
              <a:rPr lang="en-US" dirty="0"/>
              <a:t>Reduces greenhouse gas emissions and air pollution.</a:t>
            </a:r>
          </a:p>
          <a:p>
            <a:r>
              <a:rPr lang="en-US" dirty="0"/>
              <a:t>Provides sustainable and long-term energy supply.</a:t>
            </a:r>
          </a:p>
          <a:p>
            <a:r>
              <a:rPr lang="en-US" dirty="0"/>
              <a:t>Creates employment opportunities in the green energy sector.</a:t>
            </a:r>
          </a:p>
          <a:p>
            <a:r>
              <a:rPr lang="en-US" dirty="0"/>
              <a:t>Reduces dependence on foreign oil imports.</a:t>
            </a:r>
          </a:p>
          <a:p>
            <a:r>
              <a:rPr lang="en-US" dirty="0"/>
              <a:t>Supports rural electrification and improves living standards.</a:t>
            </a:r>
          </a:p>
          <a:p>
            <a:r>
              <a:rPr lang="en-US" dirty="0"/>
              <a:t>Promotes economic and environmental sustainability simultaneously.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343" y="624110"/>
            <a:ext cx="7089058" cy="1280890"/>
          </a:xfrm>
        </p:spPr>
        <p:txBody>
          <a:bodyPr/>
          <a:lstStyle/>
          <a:p>
            <a:r>
              <a:rPr lang="en-IN" b="1" dirty="0"/>
              <a:t>Challenges and Limitations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343" y="1661652"/>
            <a:ext cx="7089058" cy="4249570"/>
          </a:xfrm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initial investment cost for installation of renewable systems.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Solar and wind energy are weather-dependent and intermittent.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storage technologies are expensive and still developing.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land area required for solar farms and wind parks.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modernization of transmission and distribution infrastructure.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Requires policy support and continuous scientific innovation.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671" y="624110"/>
            <a:ext cx="7049729" cy="1280890"/>
          </a:xfrm>
        </p:spPr>
        <p:txBody>
          <a:bodyPr>
            <a:normAutofit/>
          </a:bodyPr>
          <a:lstStyle/>
          <a:p>
            <a:r>
              <a:rPr b="1" dirty="0"/>
              <a:t>Renewable Energy Capacity Growth</a:t>
            </a:r>
          </a:p>
        </p:txBody>
      </p:sp>
      <p:pic>
        <p:nvPicPr>
          <p:cNvPr id="3" name="Picture 2" descr="grap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" y="2231923"/>
            <a:ext cx="3628104" cy="2721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3FEF54-276A-ADB5-605B-122F97AC9E93}"/>
              </a:ext>
            </a:extLst>
          </p:cNvPr>
          <p:cNvSpPr txBox="1"/>
          <p:nvPr/>
        </p:nvSpPr>
        <p:spPr>
          <a:xfrm>
            <a:off x="4768645" y="2664542"/>
            <a:ext cx="42475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Renewable capacity was low in 2000.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Growth increased gradually till 2015.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Rapid expansion after 2015.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latin typeface="Arial" panose="020B0604020202020204" pitchFamily="34" charset="0"/>
              </a:rPr>
              <a:t>Shows strong global shift towards clean energy.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335" y="624110"/>
            <a:ext cx="7030065" cy="1280890"/>
          </a:xfrm>
        </p:spPr>
        <p:txBody>
          <a:bodyPr/>
          <a:lstStyle/>
          <a:p>
            <a:r>
              <a:rPr lang="en-US" b="1" dirty="0"/>
              <a:t>Renewable Energy and Sustainable Development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335" y="2133600"/>
            <a:ext cx="7030065" cy="3777622"/>
          </a:xfrm>
        </p:spPr>
        <p:txBody>
          <a:bodyPr wrap="square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energy supports economic growth without harming the environment.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contributes to clean air and improved public health.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Promotes sustainable cities and industries.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Promotes sustainable cities and industries.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Aligns with Sustainable Development Goals related to clean energy and climate action.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Connects science, society, and environmental responsibility.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510" y="624110"/>
            <a:ext cx="7098890" cy="1280890"/>
          </a:xfrm>
        </p:spPr>
        <p:txBody>
          <a:bodyPr>
            <a:normAutofit/>
          </a:bodyPr>
          <a:lstStyle/>
          <a:p>
            <a:r>
              <a:rPr b="1" dirty="0"/>
              <a:t>Renewable Energy Share Increase</a:t>
            </a:r>
          </a:p>
        </p:txBody>
      </p:sp>
      <p:pic>
        <p:nvPicPr>
          <p:cNvPr id="3" name="Picture 2" descr="grap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48349"/>
            <a:ext cx="3739536" cy="2804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79AF5F-9FB7-1DDD-04C0-E1FED02CCB63}"/>
              </a:ext>
            </a:extLst>
          </p:cNvPr>
          <p:cNvSpPr txBox="1"/>
          <p:nvPr/>
        </p:nvSpPr>
        <p:spPr>
          <a:xfrm>
            <a:off x="4349136" y="2524037"/>
            <a:ext cx="47948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graph shows renewable energy share rising from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18% in 2010 to about 33% in 2023.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is steady between 2010–2015.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tabLst/>
            </a:pPr>
            <a:r>
              <a:rPr lang="en-US" altLang="en-US" dirty="0">
                <a:latin typeface="Arial" panose="020B0604020202020204" pitchFamily="34" charset="0"/>
              </a:rPr>
              <a:t>After 2015, the increase becomes faster.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tabLst/>
            </a:pPr>
            <a:r>
              <a:rPr lang="en-US" altLang="en-US" dirty="0">
                <a:latin typeface="Arial" panose="020B0604020202020204" pitchFamily="34" charset="0"/>
              </a:rPr>
              <a:t>This indicates a strong global shift toward clean and sustainable energy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335" y="624110"/>
            <a:ext cx="7030065" cy="15094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PYQ-1: Role of Science in Attaining Clean and Renewable Energy Goals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335" y="2290916"/>
            <a:ext cx="7030065" cy="4021395"/>
          </a:xfrm>
        </p:spPr>
        <p:txBody>
          <a:bodyPr wrap="square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 research improves efficiency of solar panels and wind turbines.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advanced battery storage systems ensures continuous electricity supply.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grid technology allows efficient energy distribution and monitoring.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reduces production cost of renewable energy technologies.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 modeling helps governments design effective energy policies.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Emerging technologies like green hydrogen and carbon capture are results of scientific advancement.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Science is the backbone of clean energy transition.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845" y="624110"/>
            <a:ext cx="7118555" cy="1280890"/>
          </a:xfrm>
        </p:spPr>
        <p:txBody>
          <a:bodyPr>
            <a:normAutofit/>
          </a:bodyPr>
          <a:lstStyle/>
          <a:p>
            <a:r>
              <a:rPr lang="en-US" b="1" dirty="0"/>
              <a:t>PYQ-2: Renewable Energy and Its Impact on Global Warming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845" y="2359741"/>
            <a:ext cx="7118555" cy="3952569"/>
          </a:xfrm>
        </p:spPr>
        <p:txBody>
          <a:bodyPr wrap="square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energy replaces fossil fuel-based electricity generation.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significantly reduces greenhouse gas emissions.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carbon emissions slow the rise in global temperature.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pollution protects ecosystems and biodiversity.</a:t>
            </a:r>
          </a:p>
          <a:p>
            <a:pPr>
              <a:buFont typeface="Wingdings 3" panose="05040102010807070707" pitchFamily="18" charset="2"/>
              <a:buChar char="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adoption supports international climate agreements.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one of the most effective strategies to combat climate change.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A693-A24E-1FE9-4A02-A548F611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1" y="624110"/>
            <a:ext cx="6961239" cy="1280890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6A8B-B325-318A-F17F-9D806E09A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1" y="1582995"/>
            <a:ext cx="6961239" cy="484730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 and renewable energy is essential for sustainable development.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 innovation has made renewable technologies more efficient and affordable.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Transition from fossil fuels to renewables is necessary to reduce global warming.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Governments, scientists, industries, and citizens must work together.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 of renewable energy ensures a cleaner, safer, and more secure future.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29311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</TotalTime>
  <Words>971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Clean and Renewable Energy</vt:lpstr>
      <vt:lpstr>Energy and Modern Society</vt:lpstr>
      <vt:lpstr>Concept of Clean Energy</vt:lpstr>
      <vt:lpstr>Understanding Renewable Energy</vt:lpstr>
      <vt:lpstr>Major Types of Renewable Energy</vt:lpstr>
      <vt:lpstr>Scientific Principles Behind Renewable Energy</vt:lpstr>
      <vt:lpstr>Working of Solar Panel</vt:lpstr>
      <vt:lpstr>Environmental Problems Caused by Fossil Fuels</vt:lpstr>
      <vt:lpstr>CO2 Emissions by Energy Source</vt:lpstr>
      <vt:lpstr>Renewable Energy and Global Warming</vt:lpstr>
      <vt:lpstr>Greenhouse Effect</vt:lpstr>
      <vt:lpstr>Advantages of Clean and Renewable Energy</vt:lpstr>
      <vt:lpstr>Challenges and Limitations</vt:lpstr>
      <vt:lpstr>Renewable Energy Capacity Growth</vt:lpstr>
      <vt:lpstr>Renewable Energy and Sustainable Development</vt:lpstr>
      <vt:lpstr>Renewable Energy Share Increase</vt:lpstr>
      <vt:lpstr>PYQ-1: Role of Science in Attaining Clean and Renewable Energy Goals</vt:lpstr>
      <vt:lpstr>PYQ-2: Renewable Energy and Its Impact on Global Warming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AASHIKA JAIN</cp:lastModifiedBy>
  <cp:revision>2</cp:revision>
  <dcterms:created xsi:type="dcterms:W3CDTF">2013-01-27T09:14:16Z</dcterms:created>
  <dcterms:modified xsi:type="dcterms:W3CDTF">2026-03-01T06:05:33Z</dcterms:modified>
  <cp:category/>
</cp:coreProperties>
</file>